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7"/>
  </p:notesMasterIdLst>
  <p:sldIdLst>
    <p:sldId id="370" r:id="rId2"/>
    <p:sldId id="335" r:id="rId3"/>
    <p:sldId id="366" r:id="rId4"/>
    <p:sldId id="376" r:id="rId5"/>
    <p:sldId id="363" r:id="rId6"/>
    <p:sldId id="379" r:id="rId7"/>
    <p:sldId id="378" r:id="rId8"/>
    <p:sldId id="374" r:id="rId9"/>
    <p:sldId id="357" r:id="rId10"/>
    <p:sldId id="353" r:id="rId11"/>
    <p:sldId id="354" r:id="rId12"/>
    <p:sldId id="352" r:id="rId13"/>
    <p:sldId id="355" r:id="rId14"/>
    <p:sldId id="344" r:id="rId15"/>
    <p:sldId id="356" r:id="rId16"/>
  </p:sldIdLst>
  <p:sldSz cx="12192000" cy="6858000"/>
  <p:notesSz cx="7099300" cy="10234613"/>
  <p:embeddedFontLst>
    <p:embeddedFont>
      <p:font typeface="Bebas Neue" panose="020B0606020202050201" pitchFamily="34" charset="0"/>
      <p:regular r:id="rId18"/>
    </p:embeddedFont>
    <p:embeddedFont>
      <p:font typeface="Montserrat Medium" panose="00000600000000000000" pitchFamily="2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apa" id="{4E31B8E2-C4D4-4B0C-B2F5-33F55B054717}">
          <p14:sldIdLst>
            <p14:sldId id="370"/>
          </p14:sldIdLst>
        </p14:section>
        <p14:section name="Análise" id="{2A43B44E-7B2A-4EF1-B601-FEFA420CE6BE}">
          <p14:sldIdLst>
            <p14:sldId id="335"/>
            <p14:sldId id="366"/>
            <p14:sldId id="376"/>
            <p14:sldId id="363"/>
            <p14:sldId id="379"/>
            <p14:sldId id="378"/>
            <p14:sldId id="374"/>
            <p14:sldId id="357"/>
            <p14:sldId id="353"/>
            <p14:sldId id="354"/>
            <p14:sldId id="352"/>
            <p14:sldId id="355"/>
            <p14:sldId id="344"/>
            <p14:sldId id="356"/>
          </p14:sldIdLst>
        </p14:section>
        <p14:section name="Profecia" id="{79EBCE99-1DD6-403C-9803-05D73646070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14">
          <p15:clr>
            <a:srgbClr val="A4A3A4"/>
          </p15:clr>
        </p15:guide>
        <p15:guide id="2" pos="4089">
          <p15:clr>
            <a:srgbClr val="A4A3A4"/>
          </p15:clr>
        </p15:guide>
        <p15:guide id="3" pos="3568">
          <p15:clr>
            <a:srgbClr val="A4A3A4"/>
          </p15:clr>
        </p15:guide>
        <p15:guide id="4" orient="horz" pos="1661" userDrawn="1">
          <p15:clr>
            <a:srgbClr val="A4A3A4"/>
          </p15:clr>
        </p15:guide>
        <p15:guide id="5" orient="horz" pos="686">
          <p15:clr>
            <a:srgbClr val="A4A3A4"/>
          </p15:clr>
        </p15:guide>
        <p15:guide id="6" orient="horz" pos="1230">
          <p15:clr>
            <a:srgbClr val="A4A3A4"/>
          </p15:clr>
        </p15:guide>
        <p15:guide id="7" orient="horz" pos="1026" userDrawn="1">
          <p15:clr>
            <a:srgbClr val="A4A3A4"/>
          </p15:clr>
        </p15:guide>
        <p15:guide id="9" pos="438">
          <p15:clr>
            <a:srgbClr val="A4A3A4"/>
          </p15:clr>
        </p15:guide>
        <p15:guide id="10" pos="3840">
          <p15:clr>
            <a:srgbClr val="A4A3A4"/>
          </p15:clr>
        </p15:guide>
        <p15:guide id="11" orient="horz" pos="1366">
          <p15:clr>
            <a:srgbClr val="A4A3A4"/>
          </p15:clr>
        </p15:guide>
        <p15:guide id="12" pos="7287" userDrawn="1">
          <p15:clr>
            <a:srgbClr val="A4A3A4"/>
          </p15:clr>
        </p15:guide>
        <p15:guide id="13" orient="horz" pos="3838">
          <p15:clr>
            <a:srgbClr val="A4A3A4"/>
          </p15:clr>
        </p15:guide>
        <p15:guide id="14" orient="horz" pos="1275">
          <p15:clr>
            <a:srgbClr val="A4A3A4"/>
          </p15:clr>
        </p15:guide>
        <p15:guide id="15" pos="3749">
          <p15:clr>
            <a:srgbClr val="A4A3A4"/>
          </p15:clr>
        </p15:guide>
        <p15:guide id="16" orient="horz" pos="2704" userDrawn="1">
          <p15:clr>
            <a:srgbClr val="A4A3A4"/>
          </p15:clr>
        </p15:guide>
        <p15:guide id="17" orient="horz" pos="2795" userDrawn="1">
          <p15:clr>
            <a:srgbClr val="A4A3A4"/>
          </p15:clr>
        </p15:guide>
        <p15:guide id="18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6EBC"/>
    <a:srgbClr val="95A8CB"/>
    <a:srgbClr val="7F9DD3"/>
    <a:srgbClr val="416DBC"/>
    <a:srgbClr val="7B93BE"/>
    <a:srgbClr val="404040"/>
    <a:srgbClr val="FFFFFF"/>
    <a:srgbClr val="0070C0"/>
    <a:srgbClr val="A1531E"/>
    <a:srgbClr val="426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Objects="1">
      <p:cViewPr varScale="1">
        <p:scale>
          <a:sx n="79" d="100"/>
          <a:sy n="79" d="100"/>
        </p:scale>
        <p:origin x="773" y="72"/>
      </p:cViewPr>
      <p:guideLst>
        <p:guide orient="horz" pos="414"/>
        <p:guide pos="4089"/>
        <p:guide pos="3568"/>
        <p:guide orient="horz" pos="1661"/>
        <p:guide orient="horz" pos="686"/>
        <p:guide orient="horz" pos="1230"/>
        <p:guide orient="horz" pos="1026"/>
        <p:guide pos="438"/>
        <p:guide pos="3840"/>
        <p:guide orient="horz" pos="1366"/>
        <p:guide pos="7287"/>
        <p:guide orient="horz" pos="3838"/>
        <p:guide orient="horz" pos="1275"/>
        <p:guide pos="3749"/>
        <p:guide orient="horz" pos="2704"/>
        <p:guide orient="horz" pos="2795"/>
        <p:guide orient="horz" pos="36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esktop\Consultoria\Business\Lisboa\Despesas%20Lisbo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119087822825761E-2"/>
          <c:y val="8.7996160824808115E-2"/>
          <c:w val="0.92332711232766329"/>
          <c:h val="0.82355519552409528"/>
        </c:manualLayout>
      </c:layout>
      <c:barChart>
        <c:barDir val="col"/>
        <c:grouping val="stacked"/>
        <c:varyColors val="0"/>
        <c:ser>
          <c:idx val="0"/>
          <c:order val="0"/>
          <c:spPr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9525" cap="flat" cmpd="sng" algn="ctr">
              <a:noFill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'DIN Categorias'!$A$65:$A$83</c:f>
              <c:numCache>
                <c:formatCode>mmm/yyyy</c:formatCode>
                <c:ptCount val="19"/>
                <c:pt idx="0">
                  <c:v>45504</c:v>
                </c:pt>
                <c:pt idx="1">
                  <c:v>45535</c:v>
                </c:pt>
                <c:pt idx="2">
                  <c:v>45565</c:v>
                </c:pt>
                <c:pt idx="3">
                  <c:v>45596</c:v>
                </c:pt>
                <c:pt idx="4">
                  <c:v>45626</c:v>
                </c:pt>
                <c:pt idx="5">
                  <c:v>45657</c:v>
                </c:pt>
                <c:pt idx="6">
                  <c:v>45688</c:v>
                </c:pt>
                <c:pt idx="7">
                  <c:v>45689</c:v>
                </c:pt>
                <c:pt idx="8">
                  <c:v>45717</c:v>
                </c:pt>
                <c:pt idx="9">
                  <c:v>45748</c:v>
                </c:pt>
                <c:pt idx="10">
                  <c:v>45778</c:v>
                </c:pt>
                <c:pt idx="11">
                  <c:v>45809</c:v>
                </c:pt>
                <c:pt idx="12">
                  <c:v>45839</c:v>
                </c:pt>
                <c:pt idx="13">
                  <c:v>45870</c:v>
                </c:pt>
                <c:pt idx="14">
                  <c:v>45901</c:v>
                </c:pt>
                <c:pt idx="15">
                  <c:v>45931</c:v>
                </c:pt>
                <c:pt idx="16">
                  <c:v>45962</c:v>
                </c:pt>
                <c:pt idx="17">
                  <c:v>45992</c:v>
                </c:pt>
                <c:pt idx="18">
                  <c:v>46023</c:v>
                </c:pt>
              </c:numCache>
            </c:numRef>
          </c:cat>
          <c:val>
            <c:numRef>
              <c:f>'DIN Categorias'!$B$65:$B$83</c:f>
              <c:numCache>
                <c:formatCode>#,##0</c:formatCode>
                <c:ptCount val="19"/>
                <c:pt idx="0">
                  <c:v>62.350389999999997</c:v>
                </c:pt>
                <c:pt idx="1">
                  <c:v>35.097970000000004</c:v>
                </c:pt>
                <c:pt idx="2">
                  <c:v>80.165149999999997</c:v>
                </c:pt>
                <c:pt idx="3">
                  <c:v>84.188550000000006</c:v>
                </c:pt>
                <c:pt idx="4">
                  <c:v>47.903449999999999</c:v>
                </c:pt>
                <c:pt idx="5">
                  <c:v>18.87689</c:v>
                </c:pt>
                <c:pt idx="6">
                  <c:v>66.901980000000023</c:v>
                </c:pt>
                <c:pt idx="7">
                  <c:v>43.865349999999999</c:v>
                </c:pt>
                <c:pt idx="8">
                  <c:v>89.619590000000002</c:v>
                </c:pt>
                <c:pt idx="9">
                  <c:v>125.6365</c:v>
                </c:pt>
                <c:pt idx="10">
                  <c:v>161.03550000000001</c:v>
                </c:pt>
                <c:pt idx="11">
                  <c:v>22.492650000000001</c:v>
                </c:pt>
                <c:pt idx="12">
                  <c:v>55.710550000000012</c:v>
                </c:pt>
                <c:pt idx="13">
                  <c:v>174.02054999999999</c:v>
                </c:pt>
                <c:pt idx="14">
                  <c:v>666.29762000000005</c:v>
                </c:pt>
                <c:pt idx="15">
                  <c:v>146.19675000000001</c:v>
                </c:pt>
                <c:pt idx="16">
                  <c:v>111.146</c:v>
                </c:pt>
                <c:pt idx="17">
                  <c:v>105.598</c:v>
                </c:pt>
                <c:pt idx="18">
                  <c:v>36.987000000000002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E-4253-B634-FE2AE0F42ECA}"/>
            </c:ext>
          </c:extLst>
        </c:ser>
        <c:ser>
          <c:idx val="1"/>
          <c:order val="1"/>
          <c:spPr>
            <a:solidFill>
              <a:schemeClr val="accent5">
                <a:lumMod val="50000"/>
              </a:schemeClr>
            </a:solidFill>
            <a:ln w="9525" cap="flat" cmpd="sng" algn="ctr">
              <a:noFill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'DIN Categorias'!$A$65:$A$83</c:f>
              <c:numCache>
                <c:formatCode>mmm/yyyy</c:formatCode>
                <c:ptCount val="19"/>
                <c:pt idx="0">
                  <c:v>45504</c:v>
                </c:pt>
                <c:pt idx="1">
                  <c:v>45535</c:v>
                </c:pt>
                <c:pt idx="2">
                  <c:v>45565</c:v>
                </c:pt>
                <c:pt idx="3">
                  <c:v>45596</c:v>
                </c:pt>
                <c:pt idx="4">
                  <c:v>45626</c:v>
                </c:pt>
                <c:pt idx="5">
                  <c:v>45657</c:v>
                </c:pt>
                <c:pt idx="6">
                  <c:v>45688</c:v>
                </c:pt>
                <c:pt idx="7">
                  <c:v>45689</c:v>
                </c:pt>
                <c:pt idx="8">
                  <c:v>45717</c:v>
                </c:pt>
                <c:pt idx="9">
                  <c:v>45748</c:v>
                </c:pt>
                <c:pt idx="10">
                  <c:v>45778</c:v>
                </c:pt>
                <c:pt idx="11">
                  <c:v>45809</c:v>
                </c:pt>
                <c:pt idx="12">
                  <c:v>45839</c:v>
                </c:pt>
                <c:pt idx="13">
                  <c:v>45870</c:v>
                </c:pt>
                <c:pt idx="14">
                  <c:v>45901</c:v>
                </c:pt>
                <c:pt idx="15">
                  <c:v>45931</c:v>
                </c:pt>
                <c:pt idx="16">
                  <c:v>45962</c:v>
                </c:pt>
                <c:pt idx="17">
                  <c:v>45992</c:v>
                </c:pt>
                <c:pt idx="18">
                  <c:v>46023</c:v>
                </c:pt>
              </c:numCache>
            </c:numRef>
          </c:cat>
          <c:val>
            <c:numRef>
              <c:f>'DIN Categorias'!$C$65:$C$83</c:f>
              <c:numCache>
                <c:formatCode>#,##0.00</c:formatCode>
                <c:ptCount val="19"/>
                <c:pt idx="17" formatCode="#,##0">
                  <c:v>535.95699999999999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74-4A35-B2D5-84120681A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403074512"/>
        <c:axId val="403072112"/>
      </c:barChart>
      <c:dateAx>
        <c:axId val="403074512"/>
        <c:scaling>
          <c:orientation val="minMax"/>
        </c:scaling>
        <c:delete val="0"/>
        <c:axPos val="b"/>
        <c:numFmt formatCode="mmm\-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3072112"/>
        <c:crosses val="autoZero"/>
        <c:auto val="1"/>
        <c:lblOffset val="100"/>
        <c:baseTimeUnit val="months"/>
      </c:dateAx>
      <c:valAx>
        <c:axId val="403072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3074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1038430975944517E-2"/>
          <c:y val="0.10534979423868313"/>
          <c:w val="0.922141997158612"/>
          <c:h val="0.706803538446583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TOTAL!$Y$4</c:f>
              <c:strCache>
                <c:ptCount val="1"/>
                <c:pt idx="0">
                  <c:v>nov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TOTAL!$X$5:$X$12</c:f>
              <c:strCache>
                <c:ptCount val="8"/>
                <c:pt idx="0">
                  <c:v>VAR</c:v>
                </c:pt>
                <c:pt idx="1">
                  <c:v>PES</c:v>
                </c:pt>
                <c:pt idx="2">
                  <c:v>DIR</c:v>
                </c:pt>
                <c:pt idx="3">
                  <c:v>ADM</c:v>
                </c:pt>
                <c:pt idx="4">
                  <c:v>COM</c:v>
                </c:pt>
                <c:pt idx="5">
                  <c:v>INV</c:v>
                </c:pt>
                <c:pt idx="6">
                  <c:v>T&amp;O</c:v>
                </c:pt>
                <c:pt idx="7">
                  <c:v>Despesa do cliente</c:v>
                </c:pt>
              </c:strCache>
            </c:strRef>
          </c:cat>
          <c:val>
            <c:numRef>
              <c:f>TOTAL!$Y$5:$Y$12</c:f>
              <c:numCache>
                <c:formatCode>#,##0</c:formatCode>
                <c:ptCount val="8"/>
                <c:pt idx="0">
                  <c:v>45256.2</c:v>
                </c:pt>
                <c:pt idx="1">
                  <c:v>29850.050000000003</c:v>
                </c:pt>
                <c:pt idx="2">
                  <c:v>12500</c:v>
                </c:pt>
                <c:pt idx="3">
                  <c:v>13209.84</c:v>
                </c:pt>
                <c:pt idx="4">
                  <c:v>9503.67</c:v>
                </c:pt>
                <c:pt idx="5">
                  <c:v>2083.2399999999998</c:v>
                </c:pt>
                <c:pt idx="6">
                  <c:v>0</c:v>
                </c:pt>
                <c:pt idx="7">
                  <c:v>1816.5700000000002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47-4A86-8CE8-AEC8CA53FF97}"/>
            </c:ext>
          </c:extLst>
        </c:ser>
        <c:ser>
          <c:idx val="1"/>
          <c:order val="1"/>
          <c:tx>
            <c:strRef>
              <c:f>TOTAL!$Z$4</c:f>
              <c:strCache>
                <c:ptCount val="1"/>
                <c:pt idx="0">
                  <c:v>dez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TOTAL!$X$5:$X$12</c:f>
              <c:strCache>
                <c:ptCount val="8"/>
                <c:pt idx="0">
                  <c:v>VAR</c:v>
                </c:pt>
                <c:pt idx="1">
                  <c:v>PES</c:v>
                </c:pt>
                <c:pt idx="2">
                  <c:v>DIR</c:v>
                </c:pt>
                <c:pt idx="3">
                  <c:v>ADM</c:v>
                </c:pt>
                <c:pt idx="4">
                  <c:v>COM</c:v>
                </c:pt>
                <c:pt idx="5">
                  <c:v>INV</c:v>
                </c:pt>
                <c:pt idx="6">
                  <c:v>T&amp;O</c:v>
                </c:pt>
                <c:pt idx="7">
                  <c:v>Despesa do cliente</c:v>
                </c:pt>
              </c:strCache>
            </c:strRef>
          </c:cat>
          <c:val>
            <c:numRef>
              <c:f>TOTAL!$Z$5:$Z$12</c:f>
              <c:numCache>
                <c:formatCode>#,##0</c:formatCode>
                <c:ptCount val="8"/>
                <c:pt idx="0">
                  <c:v>396622.68</c:v>
                </c:pt>
                <c:pt idx="1">
                  <c:v>30979.130000000005</c:v>
                </c:pt>
                <c:pt idx="2">
                  <c:v>62500</c:v>
                </c:pt>
                <c:pt idx="3">
                  <c:v>28899.360000000001</c:v>
                </c:pt>
                <c:pt idx="4">
                  <c:v>4802.7800000000007</c:v>
                </c:pt>
                <c:pt idx="5">
                  <c:v>1843.2199999999998</c:v>
                </c:pt>
                <c:pt idx="6">
                  <c:v>95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47-4A86-8CE8-AEC8CA53FF97}"/>
            </c:ext>
          </c:extLst>
        </c:ser>
        <c:ser>
          <c:idx val="2"/>
          <c:order val="2"/>
          <c:tx>
            <c:strRef>
              <c:f>TOTAL!$AA$4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TOTAL!$X$5:$X$12</c:f>
              <c:strCache>
                <c:ptCount val="8"/>
                <c:pt idx="0">
                  <c:v>VAR</c:v>
                </c:pt>
                <c:pt idx="1">
                  <c:v>PES</c:v>
                </c:pt>
                <c:pt idx="2">
                  <c:v>DIR</c:v>
                </c:pt>
                <c:pt idx="3">
                  <c:v>ADM</c:v>
                </c:pt>
                <c:pt idx="4">
                  <c:v>COM</c:v>
                </c:pt>
                <c:pt idx="5">
                  <c:v>INV</c:v>
                </c:pt>
                <c:pt idx="6">
                  <c:v>T&amp;O</c:v>
                </c:pt>
                <c:pt idx="7">
                  <c:v>Despesa do cliente</c:v>
                </c:pt>
              </c:strCache>
            </c:strRef>
          </c:cat>
          <c:val>
            <c:numRef>
              <c:f>TOTAL!$AA$5:$AA$12</c:f>
              <c:numCache>
                <c:formatCode>#,##0</c:formatCode>
                <c:ptCount val="8"/>
                <c:pt idx="0">
                  <c:v>1450</c:v>
                </c:pt>
                <c:pt idx="1">
                  <c:v>30450.5</c:v>
                </c:pt>
                <c:pt idx="2">
                  <c:v>14000</c:v>
                </c:pt>
                <c:pt idx="3">
                  <c:v>44006.890000000007</c:v>
                </c:pt>
                <c:pt idx="4">
                  <c:v>3405.6899999999996</c:v>
                </c:pt>
                <c:pt idx="5">
                  <c:v>2083.2399999999998</c:v>
                </c:pt>
                <c:pt idx="6">
                  <c:v>2548</c:v>
                </c:pt>
                <c:pt idx="7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47-4A86-8CE8-AEC8CA53FF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2421216"/>
        <c:axId val="592418336"/>
      </c:barChart>
      <c:catAx>
        <c:axId val="59242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18336"/>
        <c:crosses val="autoZero"/>
        <c:auto val="1"/>
        <c:lblAlgn val="ctr"/>
        <c:lblOffset val="100"/>
        <c:noMultiLvlLbl val="0"/>
      </c:catAx>
      <c:valAx>
        <c:axId val="59241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21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9932353314203721E-2"/>
          <c:y val="0.11041562418417124"/>
          <c:w val="0.922141997158612"/>
          <c:h val="0.622812798983759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ADM!$U$4</c:f>
              <c:strCache>
                <c:ptCount val="1"/>
                <c:pt idx="0">
                  <c:v>nov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ADM!$T$5:$T$18</c:f>
              <c:strCache>
                <c:ptCount val="14"/>
                <c:pt idx="0">
                  <c:v>Manutenção do Escritório</c:v>
                </c:pt>
                <c:pt idx="1">
                  <c:v>Material de Escritório</c:v>
                </c:pt>
                <c:pt idx="2">
                  <c:v>Condomínios</c:v>
                </c:pt>
                <c:pt idx="3">
                  <c:v>Assessoria Contábil</c:v>
                </c:pt>
                <c:pt idx="4">
                  <c:v>Lanches, Refeições, Copa e Cozinha</c:v>
                </c:pt>
                <c:pt idx="5">
                  <c:v>Softwares</c:v>
                </c:pt>
                <c:pt idx="6">
                  <c:v>Assessorias</c:v>
                </c:pt>
                <c:pt idx="7">
                  <c:v>Limpeza</c:v>
                </c:pt>
                <c:pt idx="8">
                  <c:v>Aluguel</c:v>
                </c:pt>
                <c:pt idx="9">
                  <c:v>Energia Elétrica</c:v>
                </c:pt>
                <c:pt idx="10">
                  <c:v>Serviços de TI</c:v>
                </c:pt>
                <c:pt idx="11">
                  <c:v>Internet e Telefonia</c:v>
                </c:pt>
                <c:pt idx="12">
                  <c:v>Cartão de Crédito</c:v>
                </c:pt>
                <c:pt idx="13">
                  <c:v>Água e Esgoto</c:v>
                </c:pt>
              </c:strCache>
            </c:strRef>
          </c:cat>
          <c:val>
            <c:numRef>
              <c:f>ADM!$U$5:$U$18</c:f>
              <c:numCache>
                <c:formatCode>#,##0</c:formatCode>
                <c:ptCount val="14"/>
                <c:pt idx="0">
                  <c:v>177.97</c:v>
                </c:pt>
                <c:pt idx="1">
                  <c:v>1009.88</c:v>
                </c:pt>
                <c:pt idx="2">
                  <c:v>2892.0200000000004</c:v>
                </c:pt>
                <c:pt idx="3">
                  <c:v>1518</c:v>
                </c:pt>
                <c:pt idx="4">
                  <c:v>1075.0899999999999</c:v>
                </c:pt>
                <c:pt idx="5">
                  <c:v>1411.13</c:v>
                </c:pt>
                <c:pt idx="6">
                  <c:v>300.05</c:v>
                </c:pt>
                <c:pt idx="7">
                  <c:v>1190</c:v>
                </c:pt>
                <c:pt idx="8">
                  <c:v>1000</c:v>
                </c:pt>
                <c:pt idx="9">
                  <c:v>1007.97</c:v>
                </c:pt>
                <c:pt idx="10">
                  <c:v>0</c:v>
                </c:pt>
                <c:pt idx="11">
                  <c:v>397.95</c:v>
                </c:pt>
                <c:pt idx="12">
                  <c:v>224.98999999999978</c:v>
                </c:pt>
                <c:pt idx="13">
                  <c:v>179.27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5-4C4D-B7A6-3FF81A023709}"/>
            </c:ext>
          </c:extLst>
        </c:ser>
        <c:ser>
          <c:idx val="1"/>
          <c:order val="1"/>
          <c:tx>
            <c:strRef>
              <c:f>ADM!$V$4</c:f>
              <c:strCache>
                <c:ptCount val="1"/>
                <c:pt idx="0">
                  <c:v>dez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ADM!$T$5:$T$18</c:f>
              <c:strCache>
                <c:ptCount val="14"/>
                <c:pt idx="0">
                  <c:v>Manutenção do Escritório</c:v>
                </c:pt>
                <c:pt idx="1">
                  <c:v>Material de Escritório</c:v>
                </c:pt>
                <c:pt idx="2">
                  <c:v>Condomínios</c:v>
                </c:pt>
                <c:pt idx="3">
                  <c:v>Assessoria Contábil</c:v>
                </c:pt>
                <c:pt idx="4">
                  <c:v>Lanches, Refeições, Copa e Cozinha</c:v>
                </c:pt>
                <c:pt idx="5">
                  <c:v>Softwares</c:v>
                </c:pt>
                <c:pt idx="6">
                  <c:v>Assessorias</c:v>
                </c:pt>
                <c:pt idx="7">
                  <c:v>Limpeza</c:v>
                </c:pt>
                <c:pt idx="8">
                  <c:v>Aluguel</c:v>
                </c:pt>
                <c:pt idx="9">
                  <c:v>Energia Elétrica</c:v>
                </c:pt>
                <c:pt idx="10">
                  <c:v>Serviços de TI</c:v>
                </c:pt>
                <c:pt idx="11">
                  <c:v>Internet e Telefonia</c:v>
                </c:pt>
                <c:pt idx="12">
                  <c:v>Cartão de Crédito</c:v>
                </c:pt>
                <c:pt idx="13">
                  <c:v>Água e Esgoto</c:v>
                </c:pt>
              </c:strCache>
            </c:strRef>
          </c:cat>
          <c:val>
            <c:numRef>
              <c:f>ADM!$V$5:$V$18</c:f>
              <c:numCache>
                <c:formatCode>#,##0</c:formatCode>
                <c:ptCount val="14"/>
                <c:pt idx="0">
                  <c:v>4682.75</c:v>
                </c:pt>
                <c:pt idx="1">
                  <c:v>9870.68</c:v>
                </c:pt>
                <c:pt idx="2">
                  <c:v>2781.8200000000006</c:v>
                </c:pt>
                <c:pt idx="3">
                  <c:v>3036</c:v>
                </c:pt>
                <c:pt idx="4">
                  <c:v>1662.23</c:v>
                </c:pt>
                <c:pt idx="5">
                  <c:v>1396.11</c:v>
                </c:pt>
                <c:pt idx="6">
                  <c:v>2045.7199999999998</c:v>
                </c:pt>
                <c:pt idx="7">
                  <c:v>1020</c:v>
                </c:pt>
                <c:pt idx="8">
                  <c:v>1000</c:v>
                </c:pt>
                <c:pt idx="9">
                  <c:v>0</c:v>
                </c:pt>
                <c:pt idx="10">
                  <c:v>0</c:v>
                </c:pt>
                <c:pt idx="11">
                  <c:v>397.95</c:v>
                </c:pt>
                <c:pt idx="12">
                  <c:v>224.99</c:v>
                </c:pt>
                <c:pt idx="13">
                  <c:v>132.22999999999999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E5-4C4D-B7A6-3FF81A023709}"/>
            </c:ext>
          </c:extLst>
        </c:ser>
        <c:ser>
          <c:idx val="2"/>
          <c:order val="2"/>
          <c:tx>
            <c:strRef>
              <c:f>ADM!$W$4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ADM!$T$5:$T$18</c:f>
              <c:strCache>
                <c:ptCount val="14"/>
                <c:pt idx="0">
                  <c:v>Manutenção do Escritório</c:v>
                </c:pt>
                <c:pt idx="1">
                  <c:v>Material de Escritório</c:v>
                </c:pt>
                <c:pt idx="2">
                  <c:v>Condomínios</c:v>
                </c:pt>
                <c:pt idx="3">
                  <c:v>Assessoria Contábil</c:v>
                </c:pt>
                <c:pt idx="4">
                  <c:v>Lanches, Refeições, Copa e Cozinha</c:v>
                </c:pt>
                <c:pt idx="5">
                  <c:v>Softwares</c:v>
                </c:pt>
                <c:pt idx="6">
                  <c:v>Assessorias</c:v>
                </c:pt>
                <c:pt idx="7">
                  <c:v>Limpeza</c:v>
                </c:pt>
                <c:pt idx="8">
                  <c:v>Aluguel</c:v>
                </c:pt>
                <c:pt idx="9">
                  <c:v>Energia Elétrica</c:v>
                </c:pt>
                <c:pt idx="10">
                  <c:v>Serviços de TI</c:v>
                </c:pt>
                <c:pt idx="11">
                  <c:v>Internet e Telefonia</c:v>
                </c:pt>
                <c:pt idx="12">
                  <c:v>Cartão de Crédito</c:v>
                </c:pt>
                <c:pt idx="13">
                  <c:v>Água e Esgoto</c:v>
                </c:pt>
              </c:strCache>
            </c:strRef>
          </c:cat>
          <c:val>
            <c:numRef>
              <c:f>ADM!$W$5:$W$18</c:f>
              <c:numCache>
                <c:formatCode>#,##0</c:formatCode>
                <c:ptCount val="14"/>
                <c:pt idx="0">
                  <c:v>23304.91</c:v>
                </c:pt>
                <c:pt idx="1">
                  <c:v>3413.7499999999995</c:v>
                </c:pt>
                <c:pt idx="2">
                  <c:v>2884.6000000000004</c:v>
                </c:pt>
                <c:pt idx="3">
                  <c:v>1518</c:v>
                </c:pt>
                <c:pt idx="4">
                  <c:v>2942.8</c:v>
                </c:pt>
                <c:pt idx="5">
                  <c:v>1844.1400000000003</c:v>
                </c:pt>
                <c:pt idx="6">
                  <c:v>1693.72</c:v>
                </c:pt>
                <c:pt idx="7">
                  <c:v>1530</c:v>
                </c:pt>
                <c:pt idx="8">
                  <c:v>1000</c:v>
                </c:pt>
                <c:pt idx="9">
                  <c:v>1281.44</c:v>
                </c:pt>
                <c:pt idx="10">
                  <c:v>1818</c:v>
                </c:pt>
                <c:pt idx="11">
                  <c:v>400.87</c:v>
                </c:pt>
                <c:pt idx="12">
                  <c:v>224.99000000000024</c:v>
                </c:pt>
                <c:pt idx="13">
                  <c:v>109.67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E5-4C4D-B7A6-3FF81A0237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2421216"/>
        <c:axId val="592418336"/>
      </c:barChart>
      <c:catAx>
        <c:axId val="59242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18336"/>
        <c:crosses val="autoZero"/>
        <c:auto val="1"/>
        <c:lblAlgn val="ctr"/>
        <c:lblOffset val="100"/>
        <c:noMultiLvlLbl val="0"/>
      </c:catAx>
      <c:valAx>
        <c:axId val="59241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21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1038430975944517E-2"/>
          <c:y val="0.10534979423868313"/>
          <c:w val="0.922141997158612"/>
          <c:h val="0.64835557800996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COM!$W$4</c:f>
              <c:strCache>
                <c:ptCount val="1"/>
                <c:pt idx="0">
                  <c:v>Ago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COM!$V$5:$V$11</c:f>
              <c:strCache>
                <c:ptCount val="7"/>
                <c:pt idx="0">
                  <c:v>Salários</c:v>
                </c:pt>
                <c:pt idx="1">
                  <c:v>INSS</c:v>
                </c:pt>
                <c:pt idx="2">
                  <c:v>Trabalho Extra</c:v>
                </c:pt>
                <c:pt idx="3">
                  <c:v>Benefícios</c:v>
                </c:pt>
                <c:pt idx="4">
                  <c:v>FGTS</c:v>
                </c:pt>
                <c:pt idx="5">
                  <c:v>Treinamentos</c:v>
                </c:pt>
                <c:pt idx="6">
                  <c:v>Taxa Estagiários</c:v>
                </c:pt>
              </c:strCache>
            </c:strRef>
          </c:cat>
          <c:val>
            <c:numRef>
              <c:f>COM!$W$5:$W$11</c:f>
              <c:numCache>
                <c:formatCode>#,##0</c:formatCode>
                <c:ptCount val="7"/>
                <c:pt idx="0">
                  <c:v>15704.4</c:v>
                </c:pt>
                <c:pt idx="1">
                  <c:v>2885.94</c:v>
                </c:pt>
                <c:pt idx="2">
                  <c:v>1660</c:v>
                </c:pt>
                <c:pt idx="3">
                  <c:v>0</c:v>
                </c:pt>
                <c:pt idx="4">
                  <c:v>789.17</c:v>
                </c:pt>
                <c:pt idx="5">
                  <c:v>778.2</c:v>
                </c:pt>
                <c:pt idx="6">
                  <c:v>106.73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0B-4F82-A7F8-5EA69084A683}"/>
            </c:ext>
          </c:extLst>
        </c:ser>
        <c:ser>
          <c:idx val="1"/>
          <c:order val="1"/>
          <c:tx>
            <c:strRef>
              <c:f>COM!$X$4</c:f>
              <c:strCache>
                <c:ptCount val="1"/>
                <c:pt idx="0">
                  <c:v>Set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COM!$V$5:$V$11</c:f>
              <c:strCache>
                <c:ptCount val="7"/>
                <c:pt idx="0">
                  <c:v>Salários</c:v>
                </c:pt>
                <c:pt idx="1">
                  <c:v>INSS</c:v>
                </c:pt>
                <c:pt idx="2">
                  <c:v>Trabalho Extra</c:v>
                </c:pt>
                <c:pt idx="3">
                  <c:v>Benefícios</c:v>
                </c:pt>
                <c:pt idx="4">
                  <c:v>FGTS</c:v>
                </c:pt>
                <c:pt idx="5">
                  <c:v>Treinamentos</c:v>
                </c:pt>
                <c:pt idx="6">
                  <c:v>Taxa Estagiários</c:v>
                </c:pt>
              </c:strCache>
            </c:strRef>
          </c:cat>
          <c:val>
            <c:numRef>
              <c:f>COM!$X$5:$X$11</c:f>
              <c:numCache>
                <c:formatCode>#,##0</c:formatCode>
                <c:ptCount val="7"/>
                <c:pt idx="0">
                  <c:v>19246.02</c:v>
                </c:pt>
                <c:pt idx="1">
                  <c:v>3107.19</c:v>
                </c:pt>
                <c:pt idx="2">
                  <c:v>1450</c:v>
                </c:pt>
                <c:pt idx="3">
                  <c:v>2699.9</c:v>
                </c:pt>
                <c:pt idx="4">
                  <c:v>858.17</c:v>
                </c:pt>
                <c:pt idx="5">
                  <c:v>485.9</c:v>
                </c:pt>
                <c:pt idx="6">
                  <c:v>106.73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0B-4F82-A7F8-5EA69084A683}"/>
            </c:ext>
          </c:extLst>
        </c:ser>
        <c:ser>
          <c:idx val="2"/>
          <c:order val="2"/>
          <c:tx>
            <c:strRef>
              <c:f>COM!$Y$4</c:f>
              <c:strCache>
                <c:ptCount val="1"/>
                <c:pt idx="0">
                  <c:v>Out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COM!$V$5:$V$11</c:f>
              <c:strCache>
                <c:ptCount val="7"/>
                <c:pt idx="0">
                  <c:v>Salários</c:v>
                </c:pt>
                <c:pt idx="1">
                  <c:v>INSS</c:v>
                </c:pt>
                <c:pt idx="2">
                  <c:v>Trabalho Extra</c:v>
                </c:pt>
                <c:pt idx="3">
                  <c:v>Benefícios</c:v>
                </c:pt>
                <c:pt idx="4">
                  <c:v>FGTS</c:v>
                </c:pt>
                <c:pt idx="5">
                  <c:v>Treinamentos</c:v>
                </c:pt>
                <c:pt idx="6">
                  <c:v>Taxa Estagiários</c:v>
                </c:pt>
              </c:strCache>
            </c:strRef>
          </c:cat>
          <c:val>
            <c:numRef>
              <c:f>COM!$Y$5:$Y$11</c:f>
              <c:numCache>
                <c:formatCode>#,##0</c:formatCode>
                <c:ptCount val="7"/>
                <c:pt idx="0">
                  <c:v>21870.579999999998</c:v>
                </c:pt>
                <c:pt idx="1">
                  <c:v>3959.05</c:v>
                </c:pt>
                <c:pt idx="2">
                  <c:v>1400</c:v>
                </c:pt>
                <c:pt idx="3">
                  <c:v>1334</c:v>
                </c:pt>
                <c:pt idx="4">
                  <c:v>997.52</c:v>
                </c:pt>
                <c:pt idx="5">
                  <c:v>288.89999999999998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0B-4F82-A7F8-5EA69084A6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2421216"/>
        <c:axId val="592418336"/>
      </c:barChart>
      <c:catAx>
        <c:axId val="59242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18336"/>
        <c:crosses val="autoZero"/>
        <c:auto val="1"/>
        <c:lblAlgn val="ctr"/>
        <c:lblOffset val="100"/>
        <c:noMultiLvlLbl val="0"/>
      </c:catAx>
      <c:valAx>
        <c:axId val="59241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21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1038430975944517E-2"/>
          <c:y val="0.10534979423868313"/>
          <c:w val="0.922141997158612"/>
          <c:h val="0.66627183673888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CML!$S$4</c:f>
              <c:strCache>
                <c:ptCount val="1"/>
                <c:pt idx="0">
                  <c:v>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CML!$R$5:$R$11</c:f>
              <c:strCache>
                <c:ptCount val="7"/>
                <c:pt idx="0">
                  <c:v>Outras Despesas Comerciais</c:v>
                </c:pt>
                <c:pt idx="1">
                  <c:v>Viagens e Hospedagens</c:v>
                </c:pt>
                <c:pt idx="2">
                  <c:v>Brindes e Presentes</c:v>
                </c:pt>
                <c:pt idx="3">
                  <c:v>Combustíveis e Táxi/Uber</c:v>
                </c:pt>
                <c:pt idx="4">
                  <c:v>Impressos Gráficos</c:v>
                </c:pt>
                <c:pt idx="5">
                  <c:v>Alimentação em Viagens</c:v>
                </c:pt>
                <c:pt idx="6">
                  <c:v>Combustíveis</c:v>
                </c:pt>
              </c:strCache>
            </c:strRef>
          </c:cat>
          <c:val>
            <c:numRef>
              <c:f>CML!$S$5:$S$11</c:f>
              <c:numCache>
                <c:formatCode>#,##0</c:formatCode>
                <c:ptCount val="7"/>
                <c:pt idx="0">
                  <c:v>925</c:v>
                </c:pt>
                <c:pt idx="1">
                  <c:v>0</c:v>
                </c:pt>
                <c:pt idx="2">
                  <c:v>0</c:v>
                </c:pt>
                <c:pt idx="3">
                  <c:v>227.71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9-4859-B6BE-686E18D65626}"/>
            </c:ext>
          </c:extLst>
        </c:ser>
        <c:ser>
          <c:idx val="1"/>
          <c:order val="1"/>
          <c:tx>
            <c:strRef>
              <c:f>CML!$T$4</c:f>
              <c:strCache>
                <c:ptCount val="1"/>
                <c:pt idx="0">
                  <c:v>out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CML!$R$5:$R$11</c:f>
              <c:strCache>
                <c:ptCount val="7"/>
                <c:pt idx="0">
                  <c:v>Outras Despesas Comerciais</c:v>
                </c:pt>
                <c:pt idx="1">
                  <c:v>Viagens e Hospedagens</c:v>
                </c:pt>
                <c:pt idx="2">
                  <c:v>Brindes e Presentes</c:v>
                </c:pt>
                <c:pt idx="3">
                  <c:v>Combustíveis e Táxi/Uber</c:v>
                </c:pt>
                <c:pt idx="4">
                  <c:v>Impressos Gráficos</c:v>
                </c:pt>
                <c:pt idx="5">
                  <c:v>Alimentação em Viagens</c:v>
                </c:pt>
                <c:pt idx="6">
                  <c:v>Combustíveis</c:v>
                </c:pt>
              </c:strCache>
            </c:strRef>
          </c:cat>
          <c:val>
            <c:numRef>
              <c:f>CML!$T$5:$T$11</c:f>
              <c:numCache>
                <c:formatCode>#,##0</c:formatCode>
                <c:ptCount val="7"/>
                <c:pt idx="0">
                  <c:v>1067.5999999999999</c:v>
                </c:pt>
                <c:pt idx="1">
                  <c:v>1873.7700000000002</c:v>
                </c:pt>
                <c:pt idx="2">
                  <c:v>129.80000000000001</c:v>
                </c:pt>
                <c:pt idx="3">
                  <c:v>566.33999999999992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9-4859-B6BE-686E18D65626}"/>
            </c:ext>
          </c:extLst>
        </c:ser>
        <c:ser>
          <c:idx val="2"/>
          <c:order val="2"/>
          <c:tx>
            <c:strRef>
              <c:f>CML!$U$4</c:f>
              <c:strCache>
                <c:ptCount val="1"/>
                <c:pt idx="0">
                  <c:v>nov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CML!$R$5:$R$11</c:f>
              <c:strCache>
                <c:ptCount val="7"/>
                <c:pt idx="0">
                  <c:v>Outras Despesas Comerciais</c:v>
                </c:pt>
                <c:pt idx="1">
                  <c:v>Viagens e Hospedagens</c:v>
                </c:pt>
                <c:pt idx="2">
                  <c:v>Brindes e Presentes</c:v>
                </c:pt>
                <c:pt idx="3">
                  <c:v>Combustíveis e Táxi/Uber</c:v>
                </c:pt>
                <c:pt idx="4">
                  <c:v>Impressos Gráficos</c:v>
                </c:pt>
                <c:pt idx="5">
                  <c:v>Alimentação em Viagens</c:v>
                </c:pt>
                <c:pt idx="6">
                  <c:v>Combustíveis</c:v>
                </c:pt>
              </c:strCache>
            </c:strRef>
          </c:cat>
          <c:val>
            <c:numRef>
              <c:f>CML!$U$5:$U$11</c:f>
              <c:numCache>
                <c:formatCode>#,##0</c:formatCode>
                <c:ptCount val="7"/>
                <c:pt idx="0">
                  <c:v>5367</c:v>
                </c:pt>
                <c:pt idx="1">
                  <c:v>1254.3799999999999</c:v>
                </c:pt>
                <c:pt idx="2">
                  <c:v>2347.11</c:v>
                </c:pt>
                <c:pt idx="3">
                  <c:v>535.18000000000006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9-4859-B6BE-686E18D656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2421216"/>
        <c:axId val="592418336"/>
      </c:barChart>
      <c:catAx>
        <c:axId val="59242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18336"/>
        <c:crosses val="autoZero"/>
        <c:auto val="1"/>
        <c:lblAlgn val="ctr"/>
        <c:lblOffset val="100"/>
        <c:noMultiLvlLbl val="0"/>
      </c:catAx>
      <c:valAx>
        <c:axId val="59241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92421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460726441051379E-2"/>
          <c:y val="6.0166875364187508E-2"/>
          <c:w val="0.96763450848972254"/>
          <c:h val="0.559047024052411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 (R$)</c:v>
                </c:pt>
              </c:strCache>
            </c:strRef>
          </c:tx>
          <c:spPr>
            <a:solidFill>
              <a:srgbClr val="99DCE3"/>
            </a:solidFill>
            <a:ln>
              <a:noFill/>
              <a:prstDash val="sysDash"/>
            </a:ln>
            <a:effectLst>
              <a:outerShdw blurRad="152400" dist="38100" dir="2700000" algn="tl" rotWithShape="0">
                <a:srgbClr val="99DCE3"/>
              </a:outerShdw>
            </a:effectLst>
          </c:spPr>
          <c:invertIfNegative val="0"/>
          <c:dLbls>
            <c:dLbl>
              <c:idx val="0"/>
              <c:layout>
                <c:manualLayout>
                  <c:x val="1.0441279761322397E-3"/>
                  <c:y val="-9.52593322774058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DBE-493D-8AFA-C8875E067749}"/>
                </c:ext>
              </c:extLst>
            </c:dLbl>
            <c:dLbl>
              <c:idx val="1"/>
              <c:layout>
                <c:manualLayout>
                  <c:x val="-8.1564062928922397E-3"/>
                  <c:y val="-4.10161144885713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BE-493D-8AFA-C8875E067749}"/>
                </c:ext>
              </c:extLst>
            </c:dLbl>
            <c:dLbl>
              <c:idx val="4"/>
              <c:layout>
                <c:manualLayout>
                  <c:x val="-6.9912053939077201E-3"/>
                  <c:y val="-4.10161144885713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BE-493D-8AFA-C8875E067749}"/>
                </c:ext>
              </c:extLst>
            </c:dLbl>
            <c:dLbl>
              <c:idx val="6"/>
              <c:layout>
                <c:manualLayout>
                  <c:x val="-1.3982410787815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BE-493D-8AFA-C8875E067749}"/>
                </c:ext>
              </c:extLst>
            </c:dLbl>
            <c:dLbl>
              <c:idx val="9"/>
              <c:layout>
                <c:manualLayout>
                  <c:x val="-1.9808415282738377E-2"/>
                  <c:y val="-5.432596225819486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DBE-493D-8AFA-C8875E067749}"/>
                </c:ext>
              </c:extLst>
            </c:dLbl>
            <c:dLbl>
              <c:idx val="11"/>
              <c:layout>
                <c:manualLayout>
                  <c:x val="-2.4469218878676886E-2"/>
                  <c:y val="-5.432596225819486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BE-493D-8AFA-C8875E067749}"/>
                </c:ext>
              </c:extLst>
            </c:dLbl>
            <c:dLbl>
              <c:idx val="15"/>
              <c:layout>
                <c:manualLayout>
                  <c:x val="-1.0653104261456072E-2"/>
                  <c:y val="-6.84578178558472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BE-493D-8AFA-C8875E067749}"/>
                </c:ext>
              </c:extLst>
            </c:dLbl>
            <c:dLbl>
              <c:idx val="19"/>
              <c:layout>
                <c:manualLayout>
                  <c:x val="-2.0122530271639245E-2"/>
                  <c:y val="-6.84578178558472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BE-493D-8AFA-C8875E067749}"/>
                </c:ext>
              </c:extLst>
            </c:dLbl>
            <c:numFmt formatCode="#,\ \K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 b="1">
                    <a:latin typeface="Montserrat Medium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Meta 
vs média 2023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  <c:pt idx="5">
                  <c:v>abr</c:v>
                </c:pt>
                <c:pt idx="6">
                  <c:v>mai</c:v>
                </c:pt>
                <c:pt idx="7">
                  <c:v>jun</c:v>
                </c:pt>
                <c:pt idx="8">
                  <c:v>jul</c:v>
                </c:pt>
                <c:pt idx="9">
                  <c:v>ago</c:v>
                </c:pt>
                <c:pt idx="10">
                  <c:v>set</c:v>
                </c:pt>
                <c:pt idx="11">
                  <c:v>out</c:v>
                </c:pt>
                <c:pt idx="12">
                  <c:v>nov</c:v>
                </c:pt>
                <c:pt idx="13">
                  <c:v>dez</c:v>
                </c:pt>
                <c:pt idx="16">
                  <c:v>1 º tri</c:v>
                </c:pt>
                <c:pt idx="18">
                  <c:v>2 º tri</c:v>
                </c:pt>
                <c:pt idx="20">
                  <c:v>3 º tri</c:v>
                </c:pt>
                <c:pt idx="22">
                  <c:v>4 º tri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 formatCode="&quot;R$&quot;\ #,##0.00">
                  <c:v>100000</c:v>
                </c:pt>
                <c:pt idx="16" formatCode="&quot;R$&quot;\ #,##0.00">
                  <c:v>270000</c:v>
                </c:pt>
                <c:pt idx="18" formatCode="&quot;R$&quot;\ #,##0.00">
                  <c:v>300000</c:v>
                </c:pt>
                <c:pt idx="20" formatCode="&quot;R$&quot;\ #,##0.00">
                  <c:v>300000</c:v>
                </c:pt>
                <c:pt idx="22" formatCode="&quot;R$&quot;\ #,##0.00">
                  <c:v>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D8-4352-A1A4-D26704B6FD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 (R$)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>
              <a:outerShdw blurRad="203200" dist="38100" dir="2700000" algn="tl" rotWithShape="0">
                <a:srgbClr val="002060"/>
              </a:outerShdw>
            </a:effectLst>
          </c:spPr>
          <c:invertIfNegative val="0"/>
          <c:dLbls>
            <c:dLbl>
              <c:idx val="0"/>
              <c:layout>
                <c:manualLayout>
                  <c:x val="1.2458166993141279E-2"/>
                  <c:y val="-2.7437030935932452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BE-493D-8AFA-C8875E067749}"/>
                </c:ext>
              </c:extLst>
            </c:dLbl>
            <c:dLbl>
              <c:idx val="1"/>
              <c:layout>
                <c:manualLayout>
                  <c:x val="2.0973616181722901E-2"/>
                  <c:y val="-8.203222897714130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BE-493D-8AFA-C8875E067749}"/>
                </c:ext>
              </c:extLst>
            </c:dLbl>
            <c:dLbl>
              <c:idx val="2"/>
              <c:layout>
                <c:manualLayout>
                  <c:x val="4.6608035959383801E-3"/>
                  <c:y val="-1.64064457954283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DBE-493D-8AFA-C8875E067749}"/>
                </c:ext>
              </c:extLst>
            </c:dLbl>
            <c:dLbl>
              <c:idx val="3"/>
              <c:layout>
                <c:manualLayout>
                  <c:x val="6.9912053939076299E-3"/>
                  <c:y val="-2.05080572442855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DBE-493D-8AFA-C8875E067749}"/>
                </c:ext>
              </c:extLst>
            </c:dLbl>
            <c:dLbl>
              <c:idx val="6"/>
              <c:layout>
                <c:manualLayout>
                  <c:x val="3.49560269695373E-3"/>
                  <c:y val="-1.230483434657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DBE-493D-8AFA-C8875E067749}"/>
                </c:ext>
              </c:extLst>
            </c:dLbl>
            <c:dLbl>
              <c:idx val="7"/>
              <c:layout>
                <c:manualLayout>
                  <c:x val="9.192240252759068E-3"/>
                  <c:y val="-1.2304618962168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DBE-493D-8AFA-C8875E067749}"/>
                </c:ext>
              </c:extLst>
            </c:dLbl>
            <c:dLbl>
              <c:idx val="9"/>
              <c:layout>
                <c:manualLayout>
                  <c:x val="2.2093344380006335E-3"/>
                  <c:y val="-3.64629938893381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DBE-493D-8AFA-C8875E067749}"/>
                </c:ext>
              </c:extLst>
            </c:dLbl>
            <c:dLbl>
              <c:idx val="10"/>
              <c:layout>
                <c:manualLayout>
                  <c:x val="4.7347130050915008E-3"/>
                  <c:y val="-1.36915635711694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DBE-493D-8AFA-C8875E067749}"/>
                </c:ext>
              </c:extLst>
            </c:dLbl>
            <c:dLbl>
              <c:idx val="11"/>
              <c:layout>
                <c:manualLayout>
                  <c:x val="1.5077509842519685E-2"/>
                  <c:y val="-2.96326853652800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DBE-493D-8AFA-C8875E067749}"/>
                </c:ext>
              </c:extLst>
            </c:dLbl>
            <c:dLbl>
              <c:idx val="15"/>
              <c:layout>
                <c:manualLayout>
                  <c:x val="8.6802069015104063E-17"/>
                  <c:y val="-1.369156357116944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DBE-493D-8AFA-C8875E067749}"/>
                </c:ext>
              </c:extLst>
            </c:dLbl>
            <c:dLbl>
              <c:idx val="17"/>
              <c:layout>
                <c:manualLayout>
                  <c:x val="1.4204139015274762E-2"/>
                  <c:y val="-3.137613739078008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DBE-493D-8AFA-C8875E067749}"/>
                </c:ext>
              </c:extLst>
            </c:dLbl>
            <c:dLbl>
              <c:idx val="19"/>
              <c:layout>
                <c:manualLayout>
                  <c:x val="7.1020695076373808E-3"/>
                  <c:y val="-2.4512607336546941E-1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DBE-493D-8AFA-C8875E06774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00" b="1">
                    <a:latin typeface="Montserrat Medium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Meta 
vs média 2023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  <c:pt idx="5">
                  <c:v>abr</c:v>
                </c:pt>
                <c:pt idx="6">
                  <c:v>mai</c:v>
                </c:pt>
                <c:pt idx="7">
                  <c:v>jun</c:v>
                </c:pt>
                <c:pt idx="8">
                  <c:v>jul</c:v>
                </c:pt>
                <c:pt idx="9">
                  <c:v>ago</c:v>
                </c:pt>
                <c:pt idx="10">
                  <c:v>set</c:v>
                </c:pt>
                <c:pt idx="11">
                  <c:v>out</c:v>
                </c:pt>
                <c:pt idx="12">
                  <c:v>nov</c:v>
                </c:pt>
                <c:pt idx="13">
                  <c:v>dez</c:v>
                </c:pt>
                <c:pt idx="16">
                  <c:v>1 º tri</c:v>
                </c:pt>
                <c:pt idx="18">
                  <c:v>2 º tri</c:v>
                </c:pt>
                <c:pt idx="20">
                  <c:v>3 º tri</c:v>
                </c:pt>
                <c:pt idx="22">
                  <c:v>4 º tri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 formatCode="&quot;R$&quot;\ #,##0.00">
                  <c:v>102444.44444444444</c:v>
                </c:pt>
                <c:pt idx="2" formatCode="&quot;R$&quot;\ #,##0.00">
                  <c:v>120000</c:v>
                </c:pt>
                <c:pt idx="3" formatCode="&quot;R$&quot;\ #,##0.00">
                  <c:v>142000</c:v>
                </c:pt>
                <c:pt idx="4" formatCode="&quot;R$&quot;\ #,##0.00">
                  <c:v>55000</c:v>
                </c:pt>
                <c:pt idx="5" formatCode="&quot;R$&quot;\ #,##0.00">
                  <c:v>42000</c:v>
                </c:pt>
                <c:pt idx="6" formatCode="&quot;R$&quot;\ #,##0.00">
                  <c:v>132000</c:v>
                </c:pt>
                <c:pt idx="7" formatCode="&quot;R$&quot;\ #,##0.00">
                  <c:v>78000</c:v>
                </c:pt>
                <c:pt idx="8" formatCode="&quot;R$&quot;\ #,##0.00">
                  <c:v>160000</c:v>
                </c:pt>
                <c:pt idx="9" formatCode="&quot;R$&quot;\ #,##0.00">
                  <c:v>82000</c:v>
                </c:pt>
                <c:pt idx="10" formatCode="&quot;R$&quot;\ #,##0.00">
                  <c:v>111000</c:v>
                </c:pt>
                <c:pt idx="15">
                  <c:v>0</c:v>
                </c:pt>
                <c:pt idx="16" formatCode="&quot;R$&quot;\ #,##0.00">
                  <c:v>317000</c:v>
                </c:pt>
                <c:pt idx="18" formatCode="&quot;R$&quot;\ #,##0.00">
                  <c:v>252000</c:v>
                </c:pt>
                <c:pt idx="20" formatCode="&quot;R$&quot;\ #,##0.00">
                  <c:v>353000</c:v>
                </c:pt>
                <c:pt idx="22" formatCode="&quot;R$&quot;\ #,##0.0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D8-4352-A1A4-D26704B6F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392766688"/>
        <c:axId val="-392774304"/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92766144"/>
        <c:axId val="-392763424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Crescimento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prstDash val="sysDash"/>
                    <a:round/>
                  </a:ln>
                  <a:effectLst>
                    <a:outerShdw blurRad="203200" dist="38100" dir="2700000" algn="tl" rotWithShape="0">
                      <a:schemeClr val="accent3">
                        <a:alpha val="82000"/>
                      </a:schemeClr>
                    </a:outerShdw>
                  </a:effectLst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Sheet1!$A$2:$A$24</c15:sqref>
                        </c15:formulaRef>
                      </c:ext>
                    </c:extLst>
                    <c:strCache>
                      <c:ptCount val="23"/>
                      <c:pt idx="0">
                        <c:v>Meta 
vs média 2023</c:v>
                      </c:pt>
                      <c:pt idx="2">
                        <c:v>jan</c:v>
                      </c:pt>
                      <c:pt idx="3">
                        <c:v>fev</c:v>
                      </c:pt>
                      <c:pt idx="4">
                        <c:v>mar</c:v>
                      </c:pt>
                      <c:pt idx="5">
                        <c:v>abr</c:v>
                      </c:pt>
                      <c:pt idx="6">
                        <c:v>mai</c:v>
                      </c:pt>
                      <c:pt idx="7">
                        <c:v>jun</c:v>
                      </c:pt>
                      <c:pt idx="8">
                        <c:v>jul</c:v>
                      </c:pt>
                      <c:pt idx="9">
                        <c:v>ago</c:v>
                      </c:pt>
                      <c:pt idx="10">
                        <c:v>set</c:v>
                      </c:pt>
                      <c:pt idx="11">
                        <c:v>out</c:v>
                      </c:pt>
                      <c:pt idx="12">
                        <c:v>nov</c:v>
                      </c:pt>
                      <c:pt idx="13">
                        <c:v>dez</c:v>
                      </c:pt>
                      <c:pt idx="16">
                        <c:v>1 º tri</c:v>
                      </c:pt>
                      <c:pt idx="18">
                        <c:v>2 º tri</c:v>
                      </c:pt>
                      <c:pt idx="20">
                        <c:v>3 º tri</c:v>
                      </c:pt>
                      <c:pt idx="22">
                        <c:v>4 º tri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Sheet1!$D$2:$D$24</c15:sqref>
                        </c15:formulaRef>
                      </c:ext>
                    </c:extLst>
                    <c:numCache>
                      <c:formatCode>General</c:formatCode>
                      <c:ptCount val="23"/>
                      <c:pt idx="2" formatCode="0.00%">
                        <c:v>1.2</c:v>
                      </c:pt>
                      <c:pt idx="3" formatCode="0.00%">
                        <c:v>1.42</c:v>
                      </c:pt>
                      <c:pt idx="4" formatCode="0.00%">
                        <c:v>0.55000000000000004</c:v>
                      </c:pt>
                      <c:pt idx="5" formatCode="0.00%">
                        <c:v>0.42</c:v>
                      </c:pt>
                      <c:pt idx="6" formatCode="0.00%">
                        <c:v>1.32</c:v>
                      </c:pt>
                      <c:pt idx="7" formatCode="0.00%">
                        <c:v>0.78</c:v>
                      </c:pt>
                      <c:pt idx="8" formatCode="0.00%">
                        <c:v>1.6</c:v>
                      </c:pt>
                      <c:pt idx="9" formatCode="0.00%">
                        <c:v>0.82</c:v>
                      </c:pt>
                      <c:pt idx="10" formatCode="0.00%">
                        <c:v>1.1100000000000001</c:v>
                      </c:pt>
                      <c:pt idx="11" formatCode="0.00%">
                        <c:v>0</c:v>
                      </c:pt>
                      <c:pt idx="12" formatCode="0.00%">
                        <c:v>0</c:v>
                      </c:pt>
                      <c:pt idx="13" formatCode="0.00%">
                        <c:v>0</c:v>
                      </c:pt>
                      <c:pt idx="15">
                        <c:v>0</c:v>
                      </c:pt>
                      <c:pt idx="16" formatCode="_(&quot;R$&quot;* #,##0.00_);_(&quot;R$&quot;* \(#,##0.00\);_(&quot;R$&quot;* &quot;-&quot;??_);_(@_)">
                        <c:v>286000</c:v>
                      </c:pt>
                      <c:pt idx="18" formatCode="_(&quot;R$&quot;* #,##0.00_);_(&quot;R$&quot;* \(#,##0.00\);_(&quot;R$&quot;* &quot;-&quot;??_);_(@_)">
                        <c:v>342000</c:v>
                      </c:pt>
                      <c:pt idx="20" formatCode="_(&quot;R$&quot;* #,##0.00_);_(&quot;R$&quot;* \(#,##0.00\);_(&quot;R$&quot;* &quot;-&quot;??_);_(@_)">
                        <c:v>225000</c:v>
                      </c:pt>
                      <c:pt idx="22" formatCode="_(&quot;R$&quot;* #,##0.00_);_(&quot;R$&quot;* \(#,##0.00\);_(&quot;R$&quot;* &quot;-&quot;??_);_(@_)">
                        <c:v>328000</c:v>
                      </c:pt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2-5ED8-4352-A1A4-D26704B6FD25}"/>
                  </c:ext>
                </c:extLst>
              </c15:ser>
            </c15:filteredLineSeries>
          </c:ext>
        </c:extLst>
      </c:lineChart>
      <c:catAx>
        <c:axId val="-39276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 anchor="t" anchorCtr="1"/>
          <a:lstStyle/>
          <a:p>
            <a:pPr algn="just">
              <a:defRPr sz="1050" b="0"/>
            </a:pPr>
            <a:endParaRPr lang="pt-BR"/>
          </a:p>
        </c:txPr>
        <c:crossAx val="-392774304"/>
        <c:crosses val="autoZero"/>
        <c:auto val="1"/>
        <c:lblAlgn val="ctr"/>
        <c:lblOffset val="100"/>
        <c:noMultiLvlLbl val="1"/>
      </c:catAx>
      <c:valAx>
        <c:axId val="-392774304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R$&quot;\ #,##0" sourceLinked="0"/>
        <c:majorTickMark val="none"/>
        <c:minorTickMark val="none"/>
        <c:tickLblPos val="nextTo"/>
        <c:crossAx val="-392766688"/>
        <c:crosses val="autoZero"/>
        <c:crossBetween val="between"/>
      </c:valAx>
      <c:valAx>
        <c:axId val="-392763424"/>
        <c:scaling>
          <c:orientation val="minMax"/>
          <c:min val="0"/>
        </c:scaling>
        <c:delete val="0"/>
        <c:axPos val="r"/>
        <c:numFmt formatCode="0%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pt-BR"/>
          </a:p>
        </c:txPr>
        <c:crossAx val="-392766144"/>
        <c:crosses val="max"/>
        <c:crossBetween val="between"/>
      </c:valAx>
      <c:catAx>
        <c:axId val="-3927661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392763424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1"/>
      <c:spPr>
        <a:noFill/>
        <a:ln>
          <a:noFill/>
        </a:ln>
        <a:effectLst/>
      </c:spPr>
      <c:txPr>
        <a:bodyPr rot="0" vert="horz"/>
        <a:lstStyle/>
        <a:p>
          <a:pPr>
            <a:defRPr sz="1100">
              <a:latin typeface="Montserrat Medium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00" b="0" i="0">
          <a:latin typeface="Roboto"/>
          <a:cs typeface="Roboto"/>
        </a:defRPr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5198211127725293E-2"/>
          <c:y val="5.3320948835142302E-2"/>
          <c:w val="0.61576229281461747"/>
          <c:h val="0.764047829855695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Sheet1!$B$18</c:f>
              <c:strCache>
                <c:ptCount val="1"/>
                <c:pt idx="0">
                  <c:v>2022 (R$ total)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  <a:prstDash val="sysDash"/>
            </a:ln>
            <a:effectLst>
              <a:outerShdw blurRad="152400" dist="38100" dir="2700000" algn="tl" rotWithShape="0">
                <a:srgbClr val="92D050"/>
              </a:outerShdw>
            </a:effectLst>
          </c:spPr>
          <c:invertIfNegative val="0"/>
          <c:dLbls>
            <c:dLbl>
              <c:idx val="0"/>
              <c:layout>
                <c:manualLayout>
                  <c:x val="-2.8047013915834782E-2"/>
                  <c:y val="-3.40533892429095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FE0-4B9B-9FDA-2511663549F5}"/>
                </c:ext>
              </c:extLst>
            </c:dLbl>
            <c:dLbl>
              <c:idx val="1"/>
              <c:layout>
                <c:manualLayout>
                  <c:x val="-8.1564062928922397E-3"/>
                  <c:y val="-4.101611448857139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FE0-4B9B-9FDA-2511663549F5}"/>
                </c:ext>
              </c:extLst>
            </c:dLbl>
            <c:dLbl>
              <c:idx val="2"/>
              <c:layout>
                <c:manualLayout>
                  <c:x val="-9.0114870000749751E-3"/>
                  <c:y val="-5.24152276554297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FE0-4B9B-9FDA-2511663549F5}"/>
                </c:ext>
              </c:extLst>
            </c:dLbl>
            <c:dLbl>
              <c:idx val="4"/>
              <c:layout>
                <c:manualLayout>
                  <c:x val="-1.0910817471879627E-2"/>
                  <c:y val="9.3126942724129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E0-4B9B-9FDA-2511663549F5}"/>
                </c:ext>
              </c:extLst>
            </c:dLbl>
            <c:dLbl>
              <c:idx val="6"/>
              <c:layout>
                <c:manualLayout>
                  <c:x val="2.7731561649644841E-3"/>
                  <c:y val="-2.07428797556960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E0-4B9B-9FDA-2511663549F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FE0-4B9B-9FDA-2511663549F5}"/>
                </c:ext>
              </c:extLst>
            </c:dLbl>
            <c:dLbl>
              <c:idx val="9"/>
              <c:layout>
                <c:manualLayout>
                  <c:x val="-1.9808415282738377E-2"/>
                  <c:y val="-5.432596225819486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FE0-4B9B-9FDA-2511663549F5}"/>
                </c:ext>
              </c:extLst>
            </c:dLbl>
            <c:dLbl>
              <c:idx val="11"/>
              <c:layout>
                <c:manualLayout>
                  <c:x val="-2.4469218878676886E-2"/>
                  <c:y val="-5.432596225819486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FE0-4B9B-9FDA-2511663549F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050" b="1">
                    <a:latin typeface="Montserrat Medium" pitchFamily="2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Sheet1!$A$19:$A$28</c:f>
              <c:strCache>
                <c:ptCount val="10"/>
                <c:pt idx="0">
                  <c:v>1 º tri</c:v>
                </c:pt>
                <c:pt idx="2">
                  <c:v>2 º tri</c:v>
                </c:pt>
                <c:pt idx="4">
                  <c:v>3 º tri</c:v>
                </c:pt>
                <c:pt idx="6">
                  <c:v>4 º tri</c:v>
                </c:pt>
                <c:pt idx="9">
                  <c:v>Total</c:v>
                </c:pt>
              </c:strCache>
            </c:strRef>
          </c:cat>
          <c:val>
            <c:numRef>
              <c:f>Sheet1!$B$19:$B$28</c:f>
              <c:numCache>
                <c:formatCode>General</c:formatCode>
                <c:ptCount val="10"/>
                <c:pt idx="0" formatCode="_(&quot;R$&quot;* #,##0.00_);_(&quot;R$&quot;* \(#,##0.00\);_(&quot;R$&quot;* &quot;-&quot;??_);_(@_)">
                  <c:v>286000</c:v>
                </c:pt>
                <c:pt idx="2" formatCode="_(&quot;R$&quot;* #,##0.00_);_(&quot;R$&quot;* \(#,##0.00\);_(&quot;R$&quot;* &quot;-&quot;??_);_(@_)">
                  <c:v>342000</c:v>
                </c:pt>
                <c:pt idx="4" formatCode="_(&quot;R$&quot;* #,##0.00_);_(&quot;R$&quot;* \(#,##0.00\);_(&quot;R$&quot;* &quot;-&quot;??_);_(@_)">
                  <c:v>225000</c:v>
                </c:pt>
                <c:pt idx="6" formatCode="_(&quot;R$&quot;* #,##0.00_);_(&quot;R$&quot;* \(#,##0.00\);_(&quot;R$&quot;* &quot;-&quot;??_);_(@_)">
                  <c:v>328000</c:v>
                </c:pt>
                <c:pt idx="8">
                  <c:v>0</c:v>
                </c:pt>
                <c:pt idx="9" formatCode="&quot;R$&quot;\ #,##0.00">
                  <c:v>1181000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D8-4352-A1A4-D26704B6FD25}"/>
            </c:ext>
          </c:extLst>
        </c:ser>
        <c:ser>
          <c:idx val="1"/>
          <c:order val="1"/>
          <c:tx>
            <c:strRef>
              <c:f>Sheet1!$C$18</c:f>
              <c:strCache>
                <c:ptCount val="1"/>
                <c:pt idx="0">
                  <c:v>2023 (R$ total)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203200" dist="38100" dir="2700000" algn="tl" rotWithShape="0">
                <a:schemeClr val="accent6">
                  <a:lumMod val="50000"/>
                </a:schemeClr>
              </a:outerShdw>
            </a:effectLst>
          </c:spPr>
          <c:invertIfNegative val="0"/>
          <c:dLbls>
            <c:dLbl>
              <c:idx val="0"/>
              <c:layout>
                <c:manualLayout>
                  <c:x val="1.314981939705585E-2"/>
                  <c:y val="-3.3734346977319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FE0-4B9B-9FDA-2511663549F5}"/>
                </c:ext>
              </c:extLst>
            </c:dLbl>
            <c:dLbl>
              <c:idx val="1"/>
              <c:layout>
                <c:manualLayout>
                  <c:x val="2.0973616181722901E-2"/>
                  <c:y val="-8.203222897714130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FE0-4B9B-9FDA-2511663549F5}"/>
                </c:ext>
              </c:extLst>
            </c:dLbl>
            <c:dLbl>
              <c:idx val="2"/>
              <c:layout>
                <c:manualLayout>
                  <c:x val="1.1734985858905892E-2"/>
                  <c:y val="-1.640673273304442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FE0-4B9B-9FDA-2511663549F5}"/>
                </c:ext>
              </c:extLst>
            </c:dLbl>
            <c:dLbl>
              <c:idx val="3"/>
              <c:layout>
                <c:manualLayout>
                  <c:x val="6.9912053939076299E-3"/>
                  <c:y val="-2.05080572442855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FE0-4B9B-9FDA-2511663549F5}"/>
                </c:ext>
              </c:extLst>
            </c:dLbl>
            <c:dLbl>
              <c:idx val="4"/>
              <c:layout>
                <c:manualLayout>
                  <c:x val="2.1222503072249755E-2"/>
                  <c:y val="-7.487889665061457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FE0-4B9B-9FDA-2511663549F5}"/>
                </c:ext>
              </c:extLst>
            </c:dLbl>
            <c:dLbl>
              <c:idx val="6"/>
              <c:layout>
                <c:manualLayout>
                  <c:x val="3.49560269695373E-3"/>
                  <c:y val="-1.230483434657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FE0-4B9B-9FDA-2511663549F5}"/>
                </c:ext>
              </c:extLst>
            </c:dLbl>
            <c:dLbl>
              <c:idx val="7"/>
              <c:layout>
                <c:manualLayout>
                  <c:x val="1.7478013484768899E-2"/>
                  <c:y val="-1.2304834346571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FE0-4B9B-9FDA-2511663549F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FE0-4B9B-9FDA-2511663549F5}"/>
                </c:ext>
              </c:extLst>
            </c:dLbl>
            <c:dLbl>
              <c:idx val="9"/>
              <c:layout>
                <c:manualLayout>
                  <c:x val="3.8200505530049562E-2"/>
                  <c:y val="-4.49273379903683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FE0-4B9B-9FDA-2511663549F5}"/>
                </c:ext>
              </c:extLst>
            </c:dLbl>
            <c:dLbl>
              <c:idx val="11"/>
              <c:layout>
                <c:manualLayout>
                  <c:x val="4.6608035959384217E-3"/>
                  <c:y val="-2.96326853652800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FE0-4B9B-9FDA-2511663549F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 b="1">
                    <a:latin typeface="Montserrat Medium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Sheet1!$A$19:$A$28</c:f>
              <c:strCache>
                <c:ptCount val="10"/>
                <c:pt idx="0">
                  <c:v>1 º tri</c:v>
                </c:pt>
                <c:pt idx="2">
                  <c:v>2 º tri</c:v>
                </c:pt>
                <c:pt idx="4">
                  <c:v>3 º tri</c:v>
                </c:pt>
                <c:pt idx="6">
                  <c:v>4 º tri</c:v>
                </c:pt>
                <c:pt idx="9">
                  <c:v>Total</c:v>
                </c:pt>
              </c:strCache>
            </c:strRef>
          </c:cat>
          <c:val>
            <c:numRef>
              <c:f>Sheet1!$C$19:$C$28</c:f>
              <c:numCache>
                <c:formatCode>General</c:formatCode>
                <c:ptCount val="10"/>
                <c:pt idx="0" formatCode="&quot;R$&quot;\ #,##0.00">
                  <c:v>317000</c:v>
                </c:pt>
                <c:pt idx="2" formatCode="&quot;R$&quot;\ #,##0.00">
                  <c:v>252000</c:v>
                </c:pt>
                <c:pt idx="4" formatCode="&quot;R$&quot;\ #,##0.00">
                  <c:v>353000</c:v>
                </c:pt>
                <c:pt idx="6" formatCode="&quot;R$&quot;\ #,##0.00">
                  <c:v>0</c:v>
                </c:pt>
                <c:pt idx="8">
                  <c:v>0</c:v>
                </c:pt>
                <c:pt idx="9" formatCode="&quot;R$&quot;\ #,##0.00">
                  <c:v>922000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D8-4352-A1A4-D26704B6F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392765056"/>
        <c:axId val="-392762336"/>
      </c:barChart>
      <c:catAx>
        <c:axId val="-392765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1100" b="0"/>
            </a:pPr>
            <a:endParaRPr lang="pt-BR"/>
          </a:p>
        </c:txPr>
        <c:crossAx val="-392762336"/>
        <c:crosses val="autoZero"/>
        <c:auto val="1"/>
        <c:lblAlgn val="l"/>
        <c:lblOffset val="100"/>
        <c:noMultiLvlLbl val="1"/>
      </c:catAx>
      <c:valAx>
        <c:axId val="-392762336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&quot;R$&quot;\ #,##0" sourceLinked="0"/>
        <c:majorTickMark val="none"/>
        <c:minorTickMark val="none"/>
        <c:tickLblPos val="nextTo"/>
        <c:crossAx val="-392765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vert="horz"/>
          <a:lstStyle/>
          <a:p>
            <a:pPr>
              <a:defRPr sz="1100" b="0">
                <a:latin typeface="Montserrat Medium" pitchFamily="2" charset="0"/>
              </a:defRPr>
            </a:pPr>
            <a:endParaRPr lang="pt-BR"/>
          </a:p>
        </c:txPr>
      </c:legendEntry>
      <c:legendEntry>
        <c:idx val="1"/>
        <c:txPr>
          <a:bodyPr rot="0" vert="horz"/>
          <a:lstStyle/>
          <a:p>
            <a:pPr>
              <a:defRPr sz="1100" b="0">
                <a:latin typeface="Montserrat Medium" pitchFamily="2" charset="0"/>
              </a:defRPr>
            </a:pPr>
            <a:endParaRPr lang="pt-BR"/>
          </a:p>
        </c:txPr>
      </c:legendEntry>
      <c:overlay val="1"/>
      <c:spPr>
        <a:noFill/>
        <a:ln>
          <a:noFill/>
        </a:ln>
        <a:effectLst/>
      </c:spPr>
      <c:txPr>
        <a:bodyPr rot="0" vert="horz"/>
        <a:lstStyle/>
        <a:p>
          <a:pPr>
            <a:defRPr sz="1100" b="1">
              <a:latin typeface="Montserrat Medium" pitchFamily="2" charset="0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00" b="0" i="0">
          <a:latin typeface="Roboto"/>
          <a:cs typeface="Roboto"/>
        </a:defRPr>
      </a:pPr>
      <a:endParaRPr lang="pt-B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8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pt-BR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6223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9100" y="1241425"/>
            <a:ext cx="595630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Vai dar trabalho, mas... Vale a pena ;-)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778995-2DBA-4FFA-A3E8-542FF302A39E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044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5372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pt-BR"/>
              <a:t>Atualize o texto com os comentários que julgar pertinente;</a:t>
            </a:r>
            <a:endParaRPr/>
          </a:p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pt-BR"/>
              <a:t>Atualize os campos em amarelo.</a:t>
            </a:r>
            <a:endParaRPr/>
          </a:p>
          <a:p>
            <a:pPr marL="247688" indent="-165125">
              <a:buClr>
                <a:schemeClr val="dk1"/>
              </a:buClr>
              <a:buSzPts val="1200"/>
            </a:pPr>
            <a:endParaRPr/>
          </a:p>
          <a:p>
            <a:pPr marL="0" indent="0">
              <a:buClr>
                <a:schemeClr val="dk1"/>
              </a:buClr>
              <a:buSzPts val="1200"/>
            </a:pPr>
            <a:r>
              <a:rPr lang="pt-BR"/>
              <a:t>--</a:t>
            </a:r>
            <a:endParaRPr/>
          </a:p>
          <a:p>
            <a:pPr marL="0" indent="0">
              <a:buClr>
                <a:schemeClr val="dk1"/>
              </a:buClr>
              <a:buSzPts val="1200"/>
            </a:pPr>
            <a:r>
              <a:rPr lang="pt-BR"/>
              <a:t>Comentar rapidamente – </a:t>
            </a:r>
            <a:r>
              <a:rPr lang="pt-BR" b="1" i="1"/>
              <a:t>não ler!</a:t>
            </a:r>
            <a:endParaRPr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817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902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8625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pt-BR" dirty="0"/>
              <a:t>Atualize o texto com os comentários que julgar pertinente;</a:t>
            </a:r>
            <a:endParaRPr dirty="0"/>
          </a:p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lang="pt-BR" dirty="0"/>
              <a:t>Atualize os campos em amarelo.</a:t>
            </a:r>
            <a:endParaRPr dirty="0"/>
          </a:p>
          <a:p>
            <a:pPr marL="247688" indent="-165125">
              <a:buClr>
                <a:schemeClr val="dk1"/>
              </a:buClr>
              <a:buSzPts val="1200"/>
            </a:pPr>
            <a:endParaRPr dirty="0"/>
          </a:p>
          <a:p>
            <a:pPr marL="0" indent="0">
              <a:buClr>
                <a:schemeClr val="dk1"/>
              </a:buClr>
              <a:buSzPts val="1200"/>
            </a:pPr>
            <a:r>
              <a:rPr lang="pt-BR" dirty="0"/>
              <a:t>--</a:t>
            </a:r>
            <a:endParaRPr dirty="0"/>
          </a:p>
          <a:p>
            <a:pPr marL="0" indent="0">
              <a:buClr>
                <a:schemeClr val="dk1"/>
              </a:buClr>
              <a:buSzPts val="1200"/>
            </a:pPr>
            <a:r>
              <a:rPr lang="pt-BR" dirty="0"/>
              <a:t>Comentar rapidamente – </a:t>
            </a:r>
            <a:r>
              <a:rPr lang="pt-BR" b="1" i="1" dirty="0"/>
              <a:t>não ler!</a:t>
            </a: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069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9487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0122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136e1c0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8862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e136e1c077_0_1:notes"/>
          <p:cNvSpPr txBox="1">
            <a:spLocks noGrp="1"/>
          </p:cNvSpPr>
          <p:nvPr>
            <p:ph type="body" idx="1"/>
          </p:nvPr>
        </p:nvSpPr>
        <p:spPr>
          <a:xfrm>
            <a:off x="709930" y="4925408"/>
            <a:ext cx="5679440" cy="403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247688" indent="-247688">
              <a:buClr>
                <a:schemeClr val="dk1"/>
              </a:buClr>
              <a:buSzPts val="1200"/>
              <a:buFont typeface="Calibri"/>
              <a:buAutoNum type="arabicParenR"/>
            </a:pPr>
            <a:endParaRPr dirty="0"/>
          </a:p>
        </p:txBody>
      </p:sp>
      <p:sp>
        <p:nvSpPr>
          <p:cNvPr id="107" name="Google Shape;107;g1e136e1c077_0_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pt-BR"/>
              <a:pPr algn="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800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bg>
      <p:bgPr>
        <a:solidFill>
          <a:srgbClr val="F1F1F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38562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97;p13"/>
          <p:cNvSpPr/>
          <p:nvPr userDrawn="1"/>
        </p:nvSpPr>
        <p:spPr>
          <a:xfrm>
            <a:off x="10218737" y="657225"/>
            <a:ext cx="1349871" cy="433387"/>
          </a:xfrm>
          <a:custGeom>
            <a:avLst/>
            <a:gdLst/>
            <a:ahLst/>
            <a:cxnLst/>
            <a:rect l="l" t="t" r="r" b="b"/>
            <a:pathLst>
              <a:path w="805" h="273" extrusionOk="0">
                <a:moveTo>
                  <a:pt x="0" y="0"/>
                </a:moveTo>
                <a:lnTo>
                  <a:pt x="805" y="0"/>
                </a:lnTo>
                <a:lnTo>
                  <a:pt x="805" y="273"/>
                </a:lnTo>
                <a:lnTo>
                  <a:pt x="0" y="273"/>
                </a:lnTo>
                <a:lnTo>
                  <a:pt x="0" y="0"/>
                </a:lnTo>
                <a:close/>
                <a:moveTo>
                  <a:pt x="22" y="262"/>
                </a:moveTo>
                <a:lnTo>
                  <a:pt x="11" y="250"/>
                </a:lnTo>
                <a:lnTo>
                  <a:pt x="794" y="250"/>
                </a:lnTo>
                <a:lnTo>
                  <a:pt x="783" y="262"/>
                </a:lnTo>
                <a:lnTo>
                  <a:pt x="783" y="11"/>
                </a:lnTo>
                <a:lnTo>
                  <a:pt x="794" y="23"/>
                </a:lnTo>
                <a:lnTo>
                  <a:pt x="11" y="23"/>
                </a:lnTo>
                <a:lnTo>
                  <a:pt x="22" y="11"/>
                </a:lnTo>
                <a:lnTo>
                  <a:pt x="22" y="262"/>
                </a:ln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8;p13"/>
          <p:cNvSpPr/>
          <p:nvPr userDrawn="1"/>
        </p:nvSpPr>
        <p:spPr>
          <a:xfrm>
            <a:off x="10320504" y="757461"/>
            <a:ext cx="114633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lang="pt-BR" sz="1800" i="0" u="none" strike="noStrike" cap="none" dirty="0">
                <a:solidFill>
                  <a:srgbClr val="FF0000"/>
                </a:solidFill>
                <a:latin typeface="Bebas Neue" panose="020B0606020202050201" pitchFamily="34" charset="0"/>
                <a:sym typeface="Arial"/>
              </a:rPr>
              <a:t>Confidencial</a:t>
            </a:r>
            <a:endParaRPr sz="2400" i="0" u="none" strike="noStrike" cap="none" dirty="0">
              <a:solidFill>
                <a:schemeClr val="dk1"/>
              </a:solidFill>
              <a:latin typeface="Bebas Neue" panose="020B0606020202050201" pitchFamily="34" charset="0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background with blue and brown text&#10;&#10;Description automatically generated">
            <a:extLst>
              <a:ext uri="{FF2B5EF4-FFF2-40B4-BE49-F238E27FC236}">
                <a16:creationId xmlns:a16="http://schemas.microsoft.com/office/drawing/2014/main" id="{6E7B5082-BD4C-E9B2-7FF9-C556D16A18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4" t="41040" r="9064" b="41040"/>
          <a:stretch/>
        </p:blipFill>
        <p:spPr>
          <a:xfrm>
            <a:off x="3288632" y="1173996"/>
            <a:ext cx="5614736" cy="1228956"/>
          </a:xfrm>
          <a:prstGeom prst="rect">
            <a:avLst/>
          </a:prstGeom>
        </p:spPr>
      </p:pic>
      <p:sp>
        <p:nvSpPr>
          <p:cNvPr id="10" name="Google Shape;94;p13">
            <a:extLst>
              <a:ext uri="{FF2B5EF4-FFF2-40B4-BE49-F238E27FC236}">
                <a16:creationId xmlns:a16="http://schemas.microsoft.com/office/drawing/2014/main" id="{A7DF6B9A-12CA-863B-1262-1C8F2FDEAB3C}"/>
              </a:ext>
            </a:extLst>
          </p:cNvPr>
          <p:cNvSpPr txBox="1"/>
          <p:nvPr/>
        </p:nvSpPr>
        <p:spPr>
          <a:xfrm>
            <a:off x="2648143" y="3029989"/>
            <a:ext cx="68958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pt-BR" sz="4800" b="1" spc="300" noProof="0" dirty="0">
                <a:solidFill>
                  <a:srgbClr val="0E3456"/>
                </a:solidFill>
                <a:latin typeface="Bebas Neue" panose="020B0606020202050201" pitchFamily="34" charset="0"/>
                <a:ea typeface="Roboto"/>
                <a:cs typeface="Roboto"/>
                <a:sym typeface="Roboto"/>
              </a:rPr>
              <a:t>Resumo Executivo</a:t>
            </a:r>
            <a:endParaRPr lang="pt-BR" sz="1000" spc="300" noProof="0" dirty="0">
              <a:solidFill>
                <a:srgbClr val="0E3456"/>
              </a:solidFill>
              <a:latin typeface="Bebas Neue" panose="020B0606020202050201" pitchFamily="34" charset="0"/>
              <a:ea typeface="Roboto"/>
              <a:cs typeface="Roboto"/>
              <a:sym typeface="Roboto"/>
            </a:endParaRPr>
          </a:p>
          <a:p>
            <a:pPr algn="ctr"/>
            <a:r>
              <a:rPr lang="pt-BR" b="1" noProof="0" dirty="0">
                <a:solidFill>
                  <a:srgbClr val="93744C"/>
                </a:solidFill>
                <a:latin typeface="Montserrat Medium" pitchFamily="2" charset="0"/>
                <a:ea typeface="Roboto"/>
                <a:cs typeface="Roboto"/>
                <a:sym typeface="Roboto"/>
              </a:rPr>
              <a:t>01</a:t>
            </a:r>
            <a:r>
              <a:rPr lang="pt-BR" b="1" noProof="0" dirty="0">
                <a:solidFill>
                  <a:srgbClr val="0E3456"/>
                </a:solidFill>
                <a:latin typeface="Montserrat Medium" pitchFamily="2" charset="0"/>
                <a:ea typeface="Roboto"/>
                <a:cs typeface="Roboto"/>
                <a:sym typeface="Roboto"/>
              </a:rPr>
              <a:t>/2026</a:t>
            </a:r>
          </a:p>
        </p:txBody>
      </p:sp>
      <p:pic>
        <p:nvPicPr>
          <p:cNvPr id="3074" name="Picture 2" descr="Foto do perfil de lisboaegoularteadv">
            <a:extLst>
              <a:ext uri="{FF2B5EF4-FFF2-40B4-BE49-F238E27FC236}">
                <a16:creationId xmlns:a16="http://schemas.microsoft.com/office/drawing/2014/main" id="{6F8C06DD-AFC4-F0BF-48C8-6716FB64D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876" y="4353128"/>
            <a:ext cx="223224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11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9;p14"/>
          <p:cNvSpPr txBox="1"/>
          <p:nvPr/>
        </p:nvSpPr>
        <p:spPr>
          <a:xfrm>
            <a:off x="640624" y="535577"/>
            <a:ext cx="649499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Visão de Bordo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2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696140" y="1790342"/>
            <a:ext cx="3372443" cy="1007011"/>
          </a:xfrm>
          <a:prstGeom prst="roundRect">
            <a:avLst>
              <a:gd name="adj" fmla="val 6546"/>
            </a:avLst>
          </a:prstGeom>
          <a:gradFill flip="none" rotWithShape="1">
            <a:gsLst>
              <a:gs pos="1000">
                <a:srgbClr val="2E517F">
                  <a:lumMod val="59000"/>
                </a:srgbClr>
              </a:gs>
              <a:gs pos="100000">
                <a:srgbClr val="2E517F"/>
              </a:gs>
            </a:gsLst>
            <a:lin ang="10800000" scaled="1"/>
            <a:tileRect/>
          </a:gradFill>
          <a:ln>
            <a:noFill/>
          </a:ln>
          <a:effectLst>
            <a:outerShdw blurRad="635000" dist="304800" dir="2700000" algn="tl" rotWithShape="0">
              <a:schemeClr val="tx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pt-BR" sz="36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57" name="TextBox 45"/>
          <p:cNvSpPr txBox="1"/>
          <p:nvPr/>
        </p:nvSpPr>
        <p:spPr>
          <a:xfrm>
            <a:off x="777911" y="1879352"/>
            <a:ext cx="269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8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R$ 36.987</a:t>
            </a:r>
          </a:p>
        </p:txBody>
      </p:sp>
      <p:sp>
        <p:nvSpPr>
          <p:cNvPr id="58" name="TextBox 46"/>
          <p:cNvSpPr txBox="1"/>
          <p:nvPr/>
        </p:nvSpPr>
        <p:spPr>
          <a:xfrm>
            <a:off x="777911" y="2293848"/>
            <a:ext cx="2605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1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Receitas totais</a:t>
            </a:r>
          </a:p>
        </p:txBody>
      </p:sp>
      <p:sp>
        <p:nvSpPr>
          <p:cNvPr id="59" name="Rounded Rectangle 48"/>
          <p:cNvSpPr/>
          <p:nvPr/>
        </p:nvSpPr>
        <p:spPr>
          <a:xfrm>
            <a:off x="827180" y="2616422"/>
            <a:ext cx="3060943" cy="482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>
              <a:defRPr/>
            </a:pPr>
            <a:endParaRPr lang="pt-BR" sz="3600" noProof="0" dirty="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70" name="Freeform 43"/>
          <p:cNvSpPr/>
          <p:nvPr/>
        </p:nvSpPr>
        <p:spPr>
          <a:xfrm>
            <a:off x="3709392" y="1912866"/>
            <a:ext cx="178731" cy="360400"/>
          </a:xfrm>
          <a:custGeom>
            <a:avLst/>
            <a:gdLst/>
            <a:ahLst/>
            <a:cxnLst/>
            <a:rect l="l" t="t" r="r" b="b"/>
            <a:pathLst>
              <a:path w="85725" h="185738">
                <a:moveTo>
                  <a:pt x="35718" y="0"/>
                </a:moveTo>
                <a:lnTo>
                  <a:pt x="50006" y="0"/>
                </a:lnTo>
                <a:lnTo>
                  <a:pt x="50006" y="15181"/>
                </a:lnTo>
                <a:cubicBezTo>
                  <a:pt x="60126" y="16669"/>
                  <a:pt x="68609" y="21432"/>
                  <a:pt x="75455" y="29468"/>
                </a:cubicBezTo>
                <a:cubicBezTo>
                  <a:pt x="82302" y="37505"/>
                  <a:pt x="85725" y="46732"/>
                  <a:pt x="85725" y="57150"/>
                </a:cubicBezTo>
                <a:lnTo>
                  <a:pt x="85725" y="64294"/>
                </a:lnTo>
                <a:lnTo>
                  <a:pt x="71437" y="64294"/>
                </a:lnTo>
                <a:lnTo>
                  <a:pt x="71437" y="57150"/>
                </a:lnTo>
                <a:cubicBezTo>
                  <a:pt x="71437" y="49114"/>
                  <a:pt x="68684" y="42342"/>
                  <a:pt x="63177" y="36835"/>
                </a:cubicBezTo>
                <a:cubicBezTo>
                  <a:pt x="57670" y="31329"/>
                  <a:pt x="50899" y="28575"/>
                  <a:pt x="42862" y="28575"/>
                </a:cubicBezTo>
                <a:cubicBezTo>
                  <a:pt x="34825" y="28575"/>
                  <a:pt x="28054" y="31403"/>
                  <a:pt x="22547" y="37059"/>
                </a:cubicBezTo>
                <a:cubicBezTo>
                  <a:pt x="17040" y="42714"/>
                  <a:pt x="14287" y="49411"/>
                  <a:pt x="14287" y="57150"/>
                </a:cubicBezTo>
                <a:cubicBezTo>
                  <a:pt x="14287" y="64294"/>
                  <a:pt x="17115" y="70247"/>
                  <a:pt x="22770" y="75010"/>
                </a:cubicBezTo>
                <a:cubicBezTo>
                  <a:pt x="26640" y="77986"/>
                  <a:pt x="34230" y="81707"/>
                  <a:pt x="45541" y="86172"/>
                </a:cubicBezTo>
                <a:cubicBezTo>
                  <a:pt x="58043" y="91232"/>
                  <a:pt x="66823" y="95846"/>
                  <a:pt x="71884" y="100013"/>
                </a:cubicBezTo>
                <a:cubicBezTo>
                  <a:pt x="81111" y="107157"/>
                  <a:pt x="85725" y="116682"/>
                  <a:pt x="85725" y="128588"/>
                </a:cubicBezTo>
                <a:cubicBezTo>
                  <a:pt x="85725" y="139006"/>
                  <a:pt x="82302" y="148233"/>
                  <a:pt x="75455" y="156270"/>
                </a:cubicBezTo>
                <a:cubicBezTo>
                  <a:pt x="68609" y="164307"/>
                  <a:pt x="60126" y="169069"/>
                  <a:pt x="50006" y="170557"/>
                </a:cubicBezTo>
                <a:lnTo>
                  <a:pt x="50006" y="185738"/>
                </a:lnTo>
                <a:lnTo>
                  <a:pt x="35718" y="185738"/>
                </a:lnTo>
                <a:lnTo>
                  <a:pt x="35718" y="170557"/>
                </a:lnTo>
                <a:cubicBezTo>
                  <a:pt x="25598" y="169069"/>
                  <a:pt x="17115" y="164307"/>
                  <a:pt x="10269" y="156270"/>
                </a:cubicBezTo>
                <a:cubicBezTo>
                  <a:pt x="3423" y="148233"/>
                  <a:pt x="0" y="139006"/>
                  <a:pt x="0" y="128588"/>
                </a:cubicBezTo>
                <a:lnTo>
                  <a:pt x="0" y="121444"/>
                </a:lnTo>
                <a:lnTo>
                  <a:pt x="14287" y="121444"/>
                </a:lnTo>
                <a:lnTo>
                  <a:pt x="14287" y="128588"/>
                </a:lnTo>
                <a:cubicBezTo>
                  <a:pt x="14287" y="136625"/>
                  <a:pt x="17040" y="143396"/>
                  <a:pt x="22547" y="148903"/>
                </a:cubicBezTo>
                <a:cubicBezTo>
                  <a:pt x="28054" y="154409"/>
                  <a:pt x="34825" y="157163"/>
                  <a:pt x="42862" y="157163"/>
                </a:cubicBezTo>
                <a:cubicBezTo>
                  <a:pt x="50601" y="157163"/>
                  <a:pt x="57298" y="154335"/>
                  <a:pt x="62954" y="148680"/>
                </a:cubicBezTo>
                <a:cubicBezTo>
                  <a:pt x="68609" y="143024"/>
                  <a:pt x="71437" y="136327"/>
                  <a:pt x="71437" y="128588"/>
                </a:cubicBezTo>
                <a:cubicBezTo>
                  <a:pt x="71437" y="121444"/>
                  <a:pt x="68609" y="115491"/>
                  <a:pt x="62954" y="110728"/>
                </a:cubicBezTo>
                <a:cubicBezTo>
                  <a:pt x="58787" y="107454"/>
                  <a:pt x="51196" y="103585"/>
                  <a:pt x="40183" y="99120"/>
                </a:cubicBezTo>
                <a:cubicBezTo>
                  <a:pt x="27384" y="94060"/>
                  <a:pt x="18603" y="89595"/>
                  <a:pt x="13841" y="85725"/>
                </a:cubicBezTo>
                <a:cubicBezTo>
                  <a:pt x="4613" y="78582"/>
                  <a:pt x="0" y="69057"/>
                  <a:pt x="0" y="57150"/>
                </a:cubicBezTo>
                <a:cubicBezTo>
                  <a:pt x="0" y="46732"/>
                  <a:pt x="3423" y="37505"/>
                  <a:pt x="10269" y="29468"/>
                </a:cubicBezTo>
                <a:cubicBezTo>
                  <a:pt x="17115" y="21432"/>
                  <a:pt x="25598" y="16669"/>
                  <a:pt x="35718" y="151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828526">
              <a:defRPr/>
            </a:pPr>
            <a:endParaRPr lang="pt-BR" sz="7200" noProof="0" dirty="0">
              <a:solidFill>
                <a:prstClr val="black"/>
              </a:solidFill>
              <a:latin typeface="Montserrat Medium" panose="00000600000000000000" pitchFamily="2" charset="0"/>
            </a:endParaRPr>
          </a:p>
        </p:txBody>
      </p:sp>
      <p:sp>
        <p:nvSpPr>
          <p:cNvPr id="71" name="Rounded Rectangle 6"/>
          <p:cNvSpPr/>
          <p:nvPr/>
        </p:nvSpPr>
        <p:spPr>
          <a:xfrm>
            <a:off x="4392827" y="1790342"/>
            <a:ext cx="3372443" cy="1007011"/>
          </a:xfrm>
          <a:prstGeom prst="roundRect">
            <a:avLst>
              <a:gd name="adj" fmla="val 6546"/>
            </a:avLst>
          </a:prstGeom>
          <a:gradFill flip="none" rotWithShape="1">
            <a:gsLst>
              <a:gs pos="1000">
                <a:srgbClr val="2E517F">
                  <a:lumMod val="59000"/>
                </a:srgbClr>
              </a:gs>
              <a:gs pos="100000">
                <a:srgbClr val="2E517F"/>
              </a:gs>
            </a:gsLst>
            <a:lin ang="10800000" scaled="1"/>
            <a:tileRect/>
          </a:gradFill>
          <a:ln>
            <a:noFill/>
          </a:ln>
          <a:effectLst>
            <a:outerShdw blurRad="635000" dist="304800" dir="2700000" algn="tl" rotWithShape="0">
              <a:schemeClr val="tx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pt-BR" sz="36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36" name="TextBox 45"/>
          <p:cNvSpPr txBox="1"/>
          <p:nvPr/>
        </p:nvSpPr>
        <p:spPr>
          <a:xfrm>
            <a:off x="4511376" y="1857857"/>
            <a:ext cx="2739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8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R$ 98.462</a:t>
            </a:r>
          </a:p>
        </p:txBody>
      </p:sp>
      <p:sp>
        <p:nvSpPr>
          <p:cNvPr id="37" name="TextBox 46"/>
          <p:cNvSpPr txBox="1"/>
          <p:nvPr/>
        </p:nvSpPr>
        <p:spPr>
          <a:xfrm>
            <a:off x="4516408" y="2272353"/>
            <a:ext cx="2605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1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Gastos totais</a:t>
            </a:r>
          </a:p>
        </p:txBody>
      </p:sp>
      <p:sp>
        <p:nvSpPr>
          <p:cNvPr id="38" name="Rounded Rectangle 48"/>
          <p:cNvSpPr/>
          <p:nvPr/>
        </p:nvSpPr>
        <p:spPr>
          <a:xfrm>
            <a:off x="4548577" y="2594927"/>
            <a:ext cx="2587046" cy="4571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>
              <a:defRPr/>
            </a:pPr>
            <a:endParaRPr lang="pt-BR" sz="3600" noProof="0" dirty="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75" name="Freeform 44"/>
          <p:cNvSpPr/>
          <p:nvPr/>
        </p:nvSpPr>
        <p:spPr>
          <a:xfrm>
            <a:off x="7135622" y="1947451"/>
            <a:ext cx="387382" cy="387382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85725" y="42863"/>
                </a:moveTo>
                <a:lnTo>
                  <a:pt x="100013" y="42863"/>
                </a:lnTo>
                <a:lnTo>
                  <a:pt x="100013" y="116086"/>
                </a:lnTo>
                <a:lnTo>
                  <a:pt x="128588" y="87511"/>
                </a:lnTo>
                <a:lnTo>
                  <a:pt x="138410" y="98227"/>
                </a:lnTo>
                <a:lnTo>
                  <a:pt x="98227" y="138411"/>
                </a:lnTo>
                <a:lnTo>
                  <a:pt x="92869" y="143768"/>
                </a:lnTo>
                <a:lnTo>
                  <a:pt x="87511" y="138411"/>
                </a:lnTo>
                <a:lnTo>
                  <a:pt x="47328" y="98227"/>
                </a:lnTo>
                <a:lnTo>
                  <a:pt x="57150" y="87511"/>
                </a:lnTo>
                <a:lnTo>
                  <a:pt x="85725" y="116086"/>
                </a:lnTo>
                <a:close/>
                <a:moveTo>
                  <a:pt x="92869" y="14288"/>
                </a:moveTo>
                <a:cubicBezTo>
                  <a:pt x="71140" y="14288"/>
                  <a:pt x="52611" y="21953"/>
                  <a:pt x="37282" y="37282"/>
                </a:cubicBezTo>
                <a:cubicBezTo>
                  <a:pt x="21952" y="52611"/>
                  <a:pt x="14288" y="71140"/>
                  <a:pt x="14288" y="92869"/>
                </a:cubicBezTo>
                <a:cubicBezTo>
                  <a:pt x="14288" y="114598"/>
                  <a:pt x="21952" y="133127"/>
                  <a:pt x="37282" y="148456"/>
                </a:cubicBezTo>
                <a:cubicBezTo>
                  <a:pt x="52611" y="163786"/>
                  <a:pt x="71140" y="171450"/>
                  <a:pt x="92869" y="171450"/>
                </a:cubicBezTo>
                <a:cubicBezTo>
                  <a:pt x="114598" y="171450"/>
                  <a:pt x="133127" y="163786"/>
                  <a:pt x="148456" y="148456"/>
                </a:cubicBezTo>
                <a:cubicBezTo>
                  <a:pt x="163786" y="133127"/>
                  <a:pt x="171450" y="114598"/>
                  <a:pt x="171450" y="92869"/>
                </a:cubicBezTo>
                <a:cubicBezTo>
                  <a:pt x="171450" y="71140"/>
                  <a:pt x="163786" y="52611"/>
                  <a:pt x="148456" y="37282"/>
                </a:cubicBezTo>
                <a:cubicBezTo>
                  <a:pt x="133127" y="21953"/>
                  <a:pt x="114598" y="14288"/>
                  <a:pt x="92869" y="14288"/>
                </a:cubicBezTo>
                <a:close/>
                <a:moveTo>
                  <a:pt x="92869" y="0"/>
                </a:moveTo>
                <a:cubicBezTo>
                  <a:pt x="118468" y="0"/>
                  <a:pt x="140345" y="9079"/>
                  <a:pt x="158502" y="27236"/>
                </a:cubicBezTo>
                <a:cubicBezTo>
                  <a:pt x="176659" y="45393"/>
                  <a:pt x="185738" y="67271"/>
                  <a:pt x="185738" y="92869"/>
                </a:cubicBezTo>
                <a:cubicBezTo>
                  <a:pt x="185738" y="118468"/>
                  <a:pt x="176659" y="140345"/>
                  <a:pt x="158502" y="158502"/>
                </a:cubicBezTo>
                <a:cubicBezTo>
                  <a:pt x="140345" y="176659"/>
                  <a:pt x="118468" y="185738"/>
                  <a:pt x="92869" y="185738"/>
                </a:cubicBezTo>
                <a:cubicBezTo>
                  <a:pt x="67271" y="185738"/>
                  <a:pt x="45393" y="176659"/>
                  <a:pt x="27236" y="158502"/>
                </a:cubicBezTo>
                <a:cubicBezTo>
                  <a:pt x="9079" y="140345"/>
                  <a:pt x="0" y="118468"/>
                  <a:pt x="0" y="92869"/>
                </a:cubicBezTo>
                <a:cubicBezTo>
                  <a:pt x="0" y="67271"/>
                  <a:pt x="9079" y="45393"/>
                  <a:pt x="27236" y="27236"/>
                </a:cubicBezTo>
                <a:cubicBezTo>
                  <a:pt x="45393" y="9079"/>
                  <a:pt x="67271" y="0"/>
                  <a:pt x="928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828526">
              <a:defRPr/>
            </a:pPr>
            <a:endParaRPr lang="pt-BR" sz="7200" noProof="0" dirty="0">
              <a:solidFill>
                <a:prstClr val="black"/>
              </a:solidFill>
              <a:latin typeface="Montserrat Medium" panose="00000600000000000000" pitchFamily="2" charset="0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8081209" y="1790342"/>
            <a:ext cx="3372443" cy="1007011"/>
          </a:xfrm>
          <a:prstGeom prst="roundRect">
            <a:avLst>
              <a:gd name="adj" fmla="val 6546"/>
            </a:avLst>
          </a:prstGeom>
          <a:gradFill flip="none" rotWithShape="1">
            <a:gsLst>
              <a:gs pos="0">
                <a:schemeClr val="accent2"/>
              </a:gs>
              <a:gs pos="50000">
                <a:srgbClr val="FF0000"/>
              </a:gs>
              <a:gs pos="100000">
                <a:srgbClr val="C00000"/>
              </a:gs>
            </a:gsLst>
            <a:lin ang="10800000" scaled="1"/>
            <a:tileRect/>
          </a:gradFill>
          <a:ln>
            <a:noFill/>
          </a:ln>
          <a:effectLst>
            <a:outerShdw blurRad="635000" dist="304800" dir="2700000" algn="tl" rotWithShape="0">
              <a:schemeClr val="tx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/>
            <a:endParaRPr lang="pt-BR" sz="360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60" name="TextBox 45"/>
          <p:cNvSpPr txBox="1"/>
          <p:nvPr/>
        </p:nvSpPr>
        <p:spPr>
          <a:xfrm>
            <a:off x="8158778" y="1831456"/>
            <a:ext cx="2230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8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- R$ </a:t>
            </a:r>
            <a:r>
              <a:rPr lang="pt-BR" sz="280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61.475</a:t>
            </a:r>
            <a:endParaRPr lang="pt-BR" sz="2800" noProof="0" dirty="0">
              <a:solidFill>
                <a:schemeClr val="bg1"/>
              </a:solidFill>
              <a:effectLst>
                <a:glow>
                  <a:srgbClr val="FF3399">
                    <a:alpha val="24000"/>
                  </a:srgbClr>
                </a:glow>
              </a:effectLst>
              <a:latin typeface="Bebas Neue" panose="020B0606020202050201" pitchFamily="34" charset="0"/>
            </a:endParaRPr>
          </a:p>
        </p:txBody>
      </p:sp>
      <p:sp>
        <p:nvSpPr>
          <p:cNvPr id="61" name="TextBox 46"/>
          <p:cNvSpPr txBox="1"/>
          <p:nvPr/>
        </p:nvSpPr>
        <p:spPr>
          <a:xfrm>
            <a:off x="8215928" y="2250272"/>
            <a:ext cx="2605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1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Geração de Caixa</a:t>
            </a:r>
          </a:p>
        </p:txBody>
      </p:sp>
      <p:sp>
        <p:nvSpPr>
          <p:cNvPr id="78" name="Rounded Rectangle 48"/>
          <p:cNvSpPr/>
          <p:nvPr/>
        </p:nvSpPr>
        <p:spPr>
          <a:xfrm>
            <a:off x="8215928" y="2593562"/>
            <a:ext cx="473897" cy="4571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80">
              <a:defRPr/>
            </a:pPr>
            <a:endParaRPr lang="pt-BR" sz="3600" noProof="0" dirty="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30" name="Rounded Rectangle 40"/>
          <p:cNvSpPr/>
          <p:nvPr/>
        </p:nvSpPr>
        <p:spPr>
          <a:xfrm>
            <a:off x="709876" y="3127752"/>
            <a:ext cx="2505803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79" name="Freeform 43"/>
          <p:cNvSpPr/>
          <p:nvPr/>
        </p:nvSpPr>
        <p:spPr>
          <a:xfrm>
            <a:off x="2764070" y="3317709"/>
            <a:ext cx="178731" cy="360400"/>
          </a:xfrm>
          <a:custGeom>
            <a:avLst/>
            <a:gdLst/>
            <a:ahLst/>
            <a:cxnLst/>
            <a:rect l="l" t="t" r="r" b="b"/>
            <a:pathLst>
              <a:path w="85725" h="185738">
                <a:moveTo>
                  <a:pt x="35718" y="0"/>
                </a:moveTo>
                <a:lnTo>
                  <a:pt x="50006" y="0"/>
                </a:lnTo>
                <a:lnTo>
                  <a:pt x="50006" y="15181"/>
                </a:lnTo>
                <a:cubicBezTo>
                  <a:pt x="60126" y="16669"/>
                  <a:pt x="68609" y="21432"/>
                  <a:pt x="75455" y="29468"/>
                </a:cubicBezTo>
                <a:cubicBezTo>
                  <a:pt x="82302" y="37505"/>
                  <a:pt x="85725" y="46732"/>
                  <a:pt x="85725" y="57150"/>
                </a:cubicBezTo>
                <a:lnTo>
                  <a:pt x="85725" y="64294"/>
                </a:lnTo>
                <a:lnTo>
                  <a:pt x="71437" y="64294"/>
                </a:lnTo>
                <a:lnTo>
                  <a:pt x="71437" y="57150"/>
                </a:lnTo>
                <a:cubicBezTo>
                  <a:pt x="71437" y="49114"/>
                  <a:pt x="68684" y="42342"/>
                  <a:pt x="63177" y="36835"/>
                </a:cubicBezTo>
                <a:cubicBezTo>
                  <a:pt x="57670" y="31329"/>
                  <a:pt x="50899" y="28575"/>
                  <a:pt x="42862" y="28575"/>
                </a:cubicBezTo>
                <a:cubicBezTo>
                  <a:pt x="34825" y="28575"/>
                  <a:pt x="28054" y="31403"/>
                  <a:pt x="22547" y="37059"/>
                </a:cubicBezTo>
                <a:cubicBezTo>
                  <a:pt x="17040" y="42714"/>
                  <a:pt x="14287" y="49411"/>
                  <a:pt x="14287" y="57150"/>
                </a:cubicBezTo>
                <a:cubicBezTo>
                  <a:pt x="14287" y="64294"/>
                  <a:pt x="17115" y="70247"/>
                  <a:pt x="22770" y="75010"/>
                </a:cubicBezTo>
                <a:cubicBezTo>
                  <a:pt x="26640" y="77986"/>
                  <a:pt x="34230" y="81707"/>
                  <a:pt x="45541" y="86172"/>
                </a:cubicBezTo>
                <a:cubicBezTo>
                  <a:pt x="58043" y="91232"/>
                  <a:pt x="66823" y="95846"/>
                  <a:pt x="71884" y="100013"/>
                </a:cubicBezTo>
                <a:cubicBezTo>
                  <a:pt x="81111" y="107157"/>
                  <a:pt x="85725" y="116682"/>
                  <a:pt x="85725" y="128588"/>
                </a:cubicBezTo>
                <a:cubicBezTo>
                  <a:pt x="85725" y="139006"/>
                  <a:pt x="82302" y="148233"/>
                  <a:pt x="75455" y="156270"/>
                </a:cubicBezTo>
                <a:cubicBezTo>
                  <a:pt x="68609" y="164307"/>
                  <a:pt x="60126" y="169069"/>
                  <a:pt x="50006" y="170557"/>
                </a:cubicBezTo>
                <a:lnTo>
                  <a:pt x="50006" y="185738"/>
                </a:lnTo>
                <a:lnTo>
                  <a:pt x="35718" y="185738"/>
                </a:lnTo>
                <a:lnTo>
                  <a:pt x="35718" y="170557"/>
                </a:lnTo>
                <a:cubicBezTo>
                  <a:pt x="25598" y="169069"/>
                  <a:pt x="17115" y="164307"/>
                  <a:pt x="10269" y="156270"/>
                </a:cubicBezTo>
                <a:cubicBezTo>
                  <a:pt x="3423" y="148233"/>
                  <a:pt x="0" y="139006"/>
                  <a:pt x="0" y="128588"/>
                </a:cubicBezTo>
                <a:lnTo>
                  <a:pt x="0" y="121444"/>
                </a:lnTo>
                <a:lnTo>
                  <a:pt x="14287" y="121444"/>
                </a:lnTo>
                <a:lnTo>
                  <a:pt x="14287" y="128588"/>
                </a:lnTo>
                <a:cubicBezTo>
                  <a:pt x="14287" y="136625"/>
                  <a:pt x="17040" y="143396"/>
                  <a:pt x="22547" y="148903"/>
                </a:cubicBezTo>
                <a:cubicBezTo>
                  <a:pt x="28054" y="154409"/>
                  <a:pt x="34825" y="157163"/>
                  <a:pt x="42862" y="157163"/>
                </a:cubicBezTo>
                <a:cubicBezTo>
                  <a:pt x="50601" y="157163"/>
                  <a:pt x="57298" y="154335"/>
                  <a:pt x="62954" y="148680"/>
                </a:cubicBezTo>
                <a:cubicBezTo>
                  <a:pt x="68609" y="143024"/>
                  <a:pt x="71437" y="136327"/>
                  <a:pt x="71437" y="128588"/>
                </a:cubicBezTo>
                <a:cubicBezTo>
                  <a:pt x="71437" y="121444"/>
                  <a:pt x="68609" y="115491"/>
                  <a:pt x="62954" y="110728"/>
                </a:cubicBezTo>
                <a:cubicBezTo>
                  <a:pt x="58787" y="107454"/>
                  <a:pt x="51196" y="103585"/>
                  <a:pt x="40183" y="99120"/>
                </a:cubicBezTo>
                <a:cubicBezTo>
                  <a:pt x="27384" y="94060"/>
                  <a:pt x="18603" y="89595"/>
                  <a:pt x="13841" y="85725"/>
                </a:cubicBezTo>
                <a:cubicBezTo>
                  <a:pt x="4613" y="78582"/>
                  <a:pt x="0" y="69057"/>
                  <a:pt x="0" y="57150"/>
                </a:cubicBezTo>
                <a:cubicBezTo>
                  <a:pt x="0" y="46732"/>
                  <a:pt x="3423" y="37505"/>
                  <a:pt x="10269" y="29468"/>
                </a:cubicBezTo>
                <a:cubicBezTo>
                  <a:pt x="17115" y="21432"/>
                  <a:pt x="25598" y="16669"/>
                  <a:pt x="35718" y="151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828526">
              <a:defRPr/>
            </a:pPr>
            <a:endParaRPr lang="pt-BR" sz="7200" noProof="0" dirty="0">
              <a:solidFill>
                <a:schemeClr val="tx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51" name="TextBox 45"/>
          <p:cNvSpPr txBox="1"/>
          <p:nvPr/>
        </p:nvSpPr>
        <p:spPr>
          <a:xfrm>
            <a:off x="813911" y="3282558"/>
            <a:ext cx="170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800" noProof="0" dirty="0">
                <a:solidFill>
                  <a:schemeClr val="tx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R$ 36.987</a:t>
            </a:r>
          </a:p>
        </p:txBody>
      </p:sp>
      <p:sp>
        <p:nvSpPr>
          <p:cNvPr id="55" name="TextBox 46"/>
          <p:cNvSpPr txBox="1"/>
          <p:nvPr/>
        </p:nvSpPr>
        <p:spPr>
          <a:xfrm>
            <a:off x="837127" y="3684958"/>
            <a:ext cx="18224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050" noProof="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de receitas operacionais</a:t>
            </a:r>
          </a:p>
        </p:txBody>
      </p:sp>
      <p:sp>
        <p:nvSpPr>
          <p:cNvPr id="54" name="Rounded Rectangle 70"/>
          <p:cNvSpPr/>
          <p:nvPr/>
        </p:nvSpPr>
        <p:spPr>
          <a:xfrm>
            <a:off x="3436588" y="3127752"/>
            <a:ext cx="2505803" cy="875797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52" name="TextBox 68"/>
          <p:cNvSpPr txBox="1"/>
          <p:nvPr/>
        </p:nvSpPr>
        <p:spPr>
          <a:xfrm>
            <a:off x="3493734" y="3284984"/>
            <a:ext cx="12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800" dirty="0">
                <a:solidFill>
                  <a:schemeClr val="tx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95,0</a:t>
            </a:r>
            <a:r>
              <a:rPr lang="pt-BR" sz="2800" noProof="0" dirty="0">
                <a:solidFill>
                  <a:schemeClr val="tx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%</a:t>
            </a:r>
          </a:p>
        </p:txBody>
      </p:sp>
      <p:sp>
        <p:nvSpPr>
          <p:cNvPr id="53" name="TextBox 69"/>
          <p:cNvSpPr txBox="1"/>
          <p:nvPr/>
        </p:nvSpPr>
        <p:spPr>
          <a:xfrm>
            <a:off x="3524299" y="3666105"/>
            <a:ext cx="27209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050" noProof="0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de margem de contribuição (MC)</a:t>
            </a:r>
          </a:p>
        </p:txBody>
      </p:sp>
      <p:pic>
        <p:nvPicPr>
          <p:cNvPr id="1026" name="Picture 2" descr="C:\Users\jonatasamorim\Downloads\grafico-de-pizz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64030" y="3284984"/>
            <a:ext cx="353777" cy="35377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ounded Rectangle 60"/>
          <p:cNvSpPr/>
          <p:nvPr/>
        </p:nvSpPr>
        <p:spPr>
          <a:xfrm>
            <a:off x="6181204" y="3127752"/>
            <a:ext cx="2505803" cy="862995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45" name="TextBox 61"/>
          <p:cNvSpPr txBox="1"/>
          <p:nvPr/>
        </p:nvSpPr>
        <p:spPr>
          <a:xfrm>
            <a:off x="6378035" y="3270667"/>
            <a:ext cx="1536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800" noProof="0" dirty="0">
                <a:solidFill>
                  <a:schemeClr val="tx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R$ 94.528</a:t>
            </a:r>
          </a:p>
        </p:txBody>
      </p:sp>
      <p:sp>
        <p:nvSpPr>
          <p:cNvPr id="46" name="TextBox 62"/>
          <p:cNvSpPr txBox="1"/>
          <p:nvPr/>
        </p:nvSpPr>
        <p:spPr>
          <a:xfrm>
            <a:off x="6387149" y="3702715"/>
            <a:ext cx="18224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050" noProof="0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de gastos fixos totais</a:t>
            </a:r>
          </a:p>
        </p:txBody>
      </p:sp>
      <p:sp>
        <p:nvSpPr>
          <p:cNvPr id="23" name="Rounded Rectangle 6"/>
          <p:cNvSpPr/>
          <p:nvPr/>
        </p:nvSpPr>
        <p:spPr>
          <a:xfrm>
            <a:off x="8950378" y="3127752"/>
            <a:ext cx="2505803" cy="880852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9175488" y="3276802"/>
            <a:ext cx="152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080">
              <a:defRPr sz="2800">
                <a:solidFill>
                  <a:schemeClr val="tx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defRPr>
            </a:lvl1pPr>
          </a:lstStyle>
          <a:p>
            <a:r>
              <a:rPr lang="pt-BR" noProof="0" dirty="0"/>
              <a:t>R$ 628.402</a:t>
            </a:r>
          </a:p>
        </p:txBody>
      </p:sp>
      <p:sp>
        <p:nvSpPr>
          <p:cNvPr id="25" name="TextBox 8"/>
          <p:cNvSpPr txBox="1"/>
          <p:nvPr/>
        </p:nvSpPr>
        <p:spPr>
          <a:xfrm>
            <a:off x="9188758" y="3708850"/>
            <a:ext cx="215360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1050" noProof="0" dirty="0">
                <a:solidFill>
                  <a:schemeClr val="bg1">
                    <a:lumMod val="5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de saldo</a:t>
            </a:r>
          </a:p>
        </p:txBody>
      </p:sp>
      <p:pic>
        <p:nvPicPr>
          <p:cNvPr id="1027" name="Picture 3" descr="C:\Users\jonatasamorim\Downloads\walle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16057" y="3287683"/>
            <a:ext cx="375071" cy="3750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ounded Rectangle 40"/>
          <p:cNvSpPr/>
          <p:nvPr/>
        </p:nvSpPr>
        <p:spPr>
          <a:xfrm>
            <a:off x="724674" y="4201122"/>
            <a:ext cx="2503190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43" name="TextBox 45"/>
          <p:cNvSpPr txBox="1"/>
          <p:nvPr/>
        </p:nvSpPr>
        <p:spPr>
          <a:xfrm>
            <a:off x="786485" y="4407733"/>
            <a:ext cx="1321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rgbClr val="C00000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- R$ 59.392</a:t>
            </a:r>
          </a:p>
        </p:txBody>
      </p:sp>
      <p:sp>
        <p:nvSpPr>
          <p:cNvPr id="50" name="Google Shape;111;p14"/>
          <p:cNvSpPr txBox="1"/>
          <p:nvPr/>
        </p:nvSpPr>
        <p:spPr>
          <a:xfrm>
            <a:off x="1991544" y="4270082"/>
            <a:ext cx="1052914" cy="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pt-BR" sz="1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rPr>
              <a:t>de resultado</a:t>
            </a:r>
          </a:p>
        </p:txBody>
      </p:sp>
      <p:sp>
        <p:nvSpPr>
          <p:cNvPr id="68" name="Rounded Rectangle 40"/>
          <p:cNvSpPr/>
          <p:nvPr/>
        </p:nvSpPr>
        <p:spPr>
          <a:xfrm>
            <a:off x="709876" y="5272357"/>
            <a:ext cx="2503191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39" name="Google Shape;111;p14"/>
          <p:cNvSpPr txBox="1"/>
          <p:nvPr/>
        </p:nvSpPr>
        <p:spPr>
          <a:xfrm>
            <a:off x="1512015" y="5336436"/>
            <a:ext cx="1631657" cy="74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Bef>
                <a:spcPts val="600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</a:defRPr>
            </a:lvl1pPr>
          </a:lstStyle>
          <a:p>
            <a:r>
              <a:rPr lang="pt-BR" noProof="0" dirty="0">
                <a:sym typeface="Calibri"/>
              </a:rPr>
              <a:t>de variação das  receitas operacionais </a:t>
            </a:r>
            <a:r>
              <a:rPr lang="pt-BR" sz="800" noProof="0" dirty="0">
                <a:sym typeface="Calibri"/>
              </a:rPr>
              <a:t>em relação ao mês anterior</a:t>
            </a:r>
          </a:p>
        </p:txBody>
      </p:sp>
      <p:sp>
        <p:nvSpPr>
          <p:cNvPr id="49" name="TextBox 68"/>
          <p:cNvSpPr txBox="1"/>
          <p:nvPr/>
        </p:nvSpPr>
        <p:spPr>
          <a:xfrm>
            <a:off x="925900" y="5478968"/>
            <a:ext cx="777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rgbClr val="C00000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-65%</a:t>
            </a:r>
          </a:p>
        </p:txBody>
      </p:sp>
      <p:sp>
        <p:nvSpPr>
          <p:cNvPr id="80" name="Isosceles Triangle 174"/>
          <p:cNvSpPr/>
          <p:nvPr/>
        </p:nvSpPr>
        <p:spPr>
          <a:xfrm rot="10800000">
            <a:off x="793624" y="5626590"/>
            <a:ext cx="170758" cy="16642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69" name="Rounded Rectangle 40"/>
          <p:cNvSpPr/>
          <p:nvPr/>
        </p:nvSpPr>
        <p:spPr>
          <a:xfrm>
            <a:off x="3436589" y="4201122"/>
            <a:ext cx="2505802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76" name="TextBox 68"/>
          <p:cNvSpPr txBox="1"/>
          <p:nvPr/>
        </p:nvSpPr>
        <p:spPr>
          <a:xfrm>
            <a:off x="3723461" y="4407733"/>
            <a:ext cx="922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rgbClr val="416EBC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-26%</a:t>
            </a:r>
          </a:p>
        </p:txBody>
      </p:sp>
      <p:sp>
        <p:nvSpPr>
          <p:cNvPr id="77" name="Isosceles Triangle 174"/>
          <p:cNvSpPr/>
          <p:nvPr/>
        </p:nvSpPr>
        <p:spPr>
          <a:xfrm rot="10800000">
            <a:off x="3570627" y="4555355"/>
            <a:ext cx="170758" cy="166420"/>
          </a:xfrm>
          <a:prstGeom prst="triangle">
            <a:avLst/>
          </a:prstGeom>
          <a:solidFill>
            <a:srgbClr val="416E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88" name="Google Shape;111;p14"/>
          <p:cNvSpPr txBox="1"/>
          <p:nvPr/>
        </p:nvSpPr>
        <p:spPr>
          <a:xfrm>
            <a:off x="4292594" y="4294781"/>
            <a:ext cx="1630126" cy="687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Bef>
                <a:spcPts val="600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</a:defRPr>
            </a:lvl1pPr>
          </a:lstStyle>
          <a:p>
            <a:pPr>
              <a:spcBef>
                <a:spcPts val="0"/>
              </a:spcBef>
            </a:pPr>
            <a:r>
              <a:rPr lang="pt-BR" noProof="0" dirty="0">
                <a:sym typeface="Calibri"/>
              </a:rPr>
              <a:t>de variação nos gastos fixos</a:t>
            </a:r>
          </a:p>
          <a:p>
            <a:pPr>
              <a:spcBef>
                <a:spcPts val="0"/>
              </a:spcBef>
            </a:pPr>
            <a:r>
              <a:rPr lang="pt-BR" sz="800" noProof="0" dirty="0">
                <a:sym typeface="Calibri"/>
              </a:rPr>
              <a:t>em relação ao mês anterior</a:t>
            </a:r>
          </a:p>
        </p:txBody>
      </p:sp>
      <p:sp>
        <p:nvSpPr>
          <p:cNvPr id="82" name="Rounded Rectangle 40"/>
          <p:cNvSpPr/>
          <p:nvPr/>
        </p:nvSpPr>
        <p:spPr>
          <a:xfrm>
            <a:off x="6177049" y="4201122"/>
            <a:ext cx="2518999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83" name="TextBox 45"/>
          <p:cNvSpPr txBox="1"/>
          <p:nvPr/>
        </p:nvSpPr>
        <p:spPr>
          <a:xfrm>
            <a:off x="6326990" y="4407733"/>
            <a:ext cx="125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R$ 0</a:t>
            </a:r>
          </a:p>
        </p:txBody>
      </p:sp>
      <p:sp>
        <p:nvSpPr>
          <p:cNvPr id="84" name="Google Shape;111;p14"/>
          <p:cNvSpPr txBox="1"/>
          <p:nvPr/>
        </p:nvSpPr>
        <p:spPr>
          <a:xfrm>
            <a:off x="7399860" y="4270082"/>
            <a:ext cx="1222210" cy="73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pt-BR" sz="1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rPr>
              <a:t>Gasto com amortização de empréstimos</a:t>
            </a:r>
          </a:p>
        </p:txBody>
      </p:sp>
      <p:sp>
        <p:nvSpPr>
          <p:cNvPr id="73" name="Rounded Rectangle 40"/>
          <p:cNvSpPr/>
          <p:nvPr/>
        </p:nvSpPr>
        <p:spPr>
          <a:xfrm>
            <a:off x="8950378" y="4201122"/>
            <a:ext cx="2518999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85" name="TextBox 45"/>
          <p:cNvSpPr txBox="1"/>
          <p:nvPr/>
        </p:nvSpPr>
        <p:spPr>
          <a:xfrm>
            <a:off x="8976320" y="4407733"/>
            <a:ext cx="125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dirty="0">
                <a:solidFill>
                  <a:srgbClr val="416EBC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6,6</a:t>
            </a:r>
            <a:r>
              <a:rPr lang="pt-BR" sz="2400" noProof="0" dirty="0">
                <a:solidFill>
                  <a:srgbClr val="416EBC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 MESES</a:t>
            </a:r>
          </a:p>
        </p:txBody>
      </p:sp>
      <p:sp>
        <p:nvSpPr>
          <p:cNvPr id="86" name="Google Shape;111;p14"/>
          <p:cNvSpPr txBox="1"/>
          <p:nvPr/>
        </p:nvSpPr>
        <p:spPr>
          <a:xfrm>
            <a:off x="10011654" y="4270082"/>
            <a:ext cx="1493091" cy="73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pt-BR" sz="1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rPr>
              <a:t>de gastos fixos cobertos com o saldo existente </a:t>
            </a:r>
          </a:p>
        </p:txBody>
      </p:sp>
      <p:sp>
        <p:nvSpPr>
          <p:cNvPr id="56" name="Rounded Rectangle 40"/>
          <p:cNvSpPr/>
          <p:nvPr/>
        </p:nvSpPr>
        <p:spPr>
          <a:xfrm>
            <a:off x="3431704" y="5272357"/>
            <a:ext cx="2505802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62" name="Google Shape;111;p14"/>
          <p:cNvSpPr txBox="1"/>
          <p:nvPr/>
        </p:nvSpPr>
        <p:spPr>
          <a:xfrm>
            <a:off x="4295800" y="5322449"/>
            <a:ext cx="1723691" cy="774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spcBef>
                <a:spcPts val="600"/>
              </a:spcBef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</a:defRPr>
            </a:lvl1pPr>
          </a:lstStyle>
          <a:p>
            <a:pPr>
              <a:spcBef>
                <a:spcPts val="0"/>
              </a:spcBef>
            </a:pPr>
            <a:r>
              <a:rPr lang="pt-BR" noProof="0" dirty="0">
                <a:sym typeface="Calibri"/>
              </a:rPr>
              <a:t>de variação nos </a:t>
            </a:r>
          </a:p>
          <a:p>
            <a:pPr>
              <a:spcBef>
                <a:spcPts val="0"/>
              </a:spcBef>
            </a:pPr>
            <a:r>
              <a:rPr lang="pt-BR" noProof="0" dirty="0">
                <a:sym typeface="Calibri"/>
              </a:rPr>
              <a:t>gastos totais</a:t>
            </a:r>
          </a:p>
          <a:p>
            <a:pPr>
              <a:spcBef>
                <a:spcPts val="0"/>
              </a:spcBef>
            </a:pPr>
            <a:r>
              <a:rPr lang="pt-BR" sz="800" noProof="0" dirty="0">
                <a:sym typeface="Calibri"/>
              </a:rPr>
              <a:t>em relação ao mês anterior</a:t>
            </a:r>
          </a:p>
        </p:txBody>
      </p:sp>
      <p:sp>
        <p:nvSpPr>
          <p:cNvPr id="63" name="TextBox 68"/>
          <p:cNvSpPr txBox="1"/>
          <p:nvPr/>
        </p:nvSpPr>
        <p:spPr>
          <a:xfrm>
            <a:off x="3718576" y="5478968"/>
            <a:ext cx="922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dirty="0">
                <a:solidFill>
                  <a:srgbClr val="416EBC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-81%</a:t>
            </a:r>
            <a:endParaRPr lang="pt-BR" sz="2400" noProof="0" dirty="0">
              <a:solidFill>
                <a:srgbClr val="416EBC"/>
              </a:solidFill>
              <a:effectLst>
                <a:glow>
                  <a:srgbClr val="FF3399">
                    <a:alpha val="24000"/>
                  </a:srgbClr>
                </a:glow>
              </a:effectLst>
              <a:latin typeface="Bebas Neue" panose="020B0606020202050201" pitchFamily="34" charset="0"/>
            </a:endParaRPr>
          </a:p>
        </p:txBody>
      </p:sp>
      <p:sp>
        <p:nvSpPr>
          <p:cNvPr id="64" name="Isosceles Triangle 174"/>
          <p:cNvSpPr/>
          <p:nvPr/>
        </p:nvSpPr>
        <p:spPr>
          <a:xfrm rot="10800000">
            <a:off x="3565742" y="5626590"/>
            <a:ext cx="170758" cy="166420"/>
          </a:xfrm>
          <a:prstGeom prst="triangle">
            <a:avLst/>
          </a:prstGeom>
          <a:solidFill>
            <a:srgbClr val="416E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2" name="Rounded Rectangle 40"/>
          <p:cNvSpPr/>
          <p:nvPr/>
        </p:nvSpPr>
        <p:spPr>
          <a:xfrm>
            <a:off x="6168008" y="5272357"/>
            <a:ext cx="2518999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3" name="TextBox 45"/>
          <p:cNvSpPr txBox="1"/>
          <p:nvPr/>
        </p:nvSpPr>
        <p:spPr>
          <a:xfrm>
            <a:off x="6342884" y="5478968"/>
            <a:ext cx="125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R$ 0</a:t>
            </a:r>
          </a:p>
        </p:txBody>
      </p:sp>
      <p:sp>
        <p:nvSpPr>
          <p:cNvPr id="94" name="Google Shape;111;p14"/>
          <p:cNvSpPr txBox="1"/>
          <p:nvPr/>
        </p:nvSpPr>
        <p:spPr>
          <a:xfrm>
            <a:off x="7320136" y="5386843"/>
            <a:ext cx="1280294" cy="64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pt-BR" sz="10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rPr>
              <a:t>de Rendimentos de Aplicações</a:t>
            </a:r>
          </a:p>
        </p:txBody>
      </p:sp>
      <p:sp>
        <p:nvSpPr>
          <p:cNvPr id="91" name="Rounded Rectangle 40"/>
          <p:cNvSpPr/>
          <p:nvPr/>
        </p:nvSpPr>
        <p:spPr>
          <a:xfrm>
            <a:off x="8950378" y="5272357"/>
            <a:ext cx="2518999" cy="87488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89" name="TextBox 45"/>
          <p:cNvSpPr txBox="1"/>
          <p:nvPr/>
        </p:nvSpPr>
        <p:spPr>
          <a:xfrm>
            <a:off x="8976320" y="5478968"/>
            <a:ext cx="125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rgbClr val="416EBC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6,4 MESES</a:t>
            </a:r>
          </a:p>
        </p:txBody>
      </p:sp>
      <p:sp>
        <p:nvSpPr>
          <p:cNvPr id="90" name="Google Shape;111;p14"/>
          <p:cNvSpPr txBox="1"/>
          <p:nvPr/>
        </p:nvSpPr>
        <p:spPr>
          <a:xfrm>
            <a:off x="10011654" y="5341317"/>
            <a:ext cx="1556954" cy="73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600"/>
              </a:spcBef>
            </a:pPr>
            <a:r>
              <a:rPr lang="pt-BR" sz="9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rPr>
              <a:t>de gastos totais cobertos se considerar os investimentos e as amortizações </a:t>
            </a:r>
          </a:p>
        </p:txBody>
      </p:sp>
      <p:sp>
        <p:nvSpPr>
          <p:cNvPr id="95" name="Google Shape;112;p14"/>
          <p:cNvSpPr txBox="1"/>
          <p:nvPr/>
        </p:nvSpPr>
        <p:spPr>
          <a:xfrm>
            <a:off x="669200" y="1079158"/>
            <a:ext cx="7232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>
              <a:defRPr sz="1100" spc="300">
                <a:solidFill>
                  <a:srgbClr val="3F3F3F">
                    <a:lumMod val="60000"/>
                    <a:lumOff val="40000"/>
                  </a:srgbClr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spc="0" noProof="0" dirty="0">
                <a:solidFill>
                  <a:srgbClr val="2F5496"/>
                </a:solidFill>
                <a:sym typeface="Calibri"/>
              </a:rPr>
              <a:t>RESULTADO DO MÊS</a:t>
            </a:r>
            <a:endParaRPr lang="pt-BR" spc="0" noProof="0" dirty="0">
              <a:solidFill>
                <a:srgbClr val="2F5496"/>
              </a:solidFill>
            </a:endParaRPr>
          </a:p>
        </p:txBody>
      </p:sp>
      <p:sp>
        <p:nvSpPr>
          <p:cNvPr id="2" name="Freeform 66">
            <a:extLst>
              <a:ext uri="{FF2B5EF4-FFF2-40B4-BE49-F238E27FC236}">
                <a16:creationId xmlns:a16="http://schemas.microsoft.com/office/drawing/2014/main" id="{57D46265-D7EB-64EB-C80F-F922DAA9A24D}"/>
              </a:ext>
            </a:extLst>
          </p:cNvPr>
          <p:cNvSpPr/>
          <p:nvPr/>
        </p:nvSpPr>
        <p:spPr>
          <a:xfrm>
            <a:off x="10848528" y="1897282"/>
            <a:ext cx="375071" cy="375071"/>
          </a:xfrm>
          <a:custGeom>
            <a:avLst/>
            <a:gdLst/>
            <a:ahLst/>
            <a:cxnLst/>
            <a:rect l="l" t="t" r="r" b="b"/>
            <a:pathLst>
              <a:path w="185738" h="185738">
                <a:moveTo>
                  <a:pt x="173236" y="30361"/>
                </a:moveTo>
                <a:lnTo>
                  <a:pt x="183952" y="41077"/>
                </a:lnTo>
                <a:lnTo>
                  <a:pt x="98227" y="126802"/>
                </a:lnTo>
                <a:lnTo>
                  <a:pt x="92869" y="131267"/>
                </a:lnTo>
                <a:lnTo>
                  <a:pt x="87511" y="126802"/>
                </a:lnTo>
                <a:lnTo>
                  <a:pt x="51793" y="91083"/>
                </a:lnTo>
                <a:lnTo>
                  <a:pt x="62508" y="80368"/>
                </a:lnTo>
                <a:lnTo>
                  <a:pt x="92869" y="111175"/>
                </a:lnTo>
                <a:close/>
                <a:moveTo>
                  <a:pt x="92869" y="0"/>
                </a:moveTo>
                <a:cubicBezTo>
                  <a:pt x="118170" y="0"/>
                  <a:pt x="139601" y="8781"/>
                  <a:pt x="157163" y="26343"/>
                </a:cubicBezTo>
                <a:lnTo>
                  <a:pt x="147340" y="36612"/>
                </a:lnTo>
                <a:cubicBezTo>
                  <a:pt x="132458" y="21729"/>
                  <a:pt x="114300" y="14288"/>
                  <a:pt x="92869" y="14288"/>
                </a:cubicBezTo>
                <a:cubicBezTo>
                  <a:pt x="71140" y="14288"/>
                  <a:pt x="52611" y="21953"/>
                  <a:pt x="37282" y="37282"/>
                </a:cubicBezTo>
                <a:cubicBezTo>
                  <a:pt x="21953" y="52611"/>
                  <a:pt x="14288" y="71140"/>
                  <a:pt x="14288" y="92869"/>
                </a:cubicBezTo>
                <a:cubicBezTo>
                  <a:pt x="14288" y="114598"/>
                  <a:pt x="21953" y="133127"/>
                  <a:pt x="37282" y="148457"/>
                </a:cubicBezTo>
                <a:cubicBezTo>
                  <a:pt x="52611" y="163786"/>
                  <a:pt x="71140" y="171450"/>
                  <a:pt x="92869" y="171450"/>
                </a:cubicBezTo>
                <a:cubicBezTo>
                  <a:pt x="114598" y="171450"/>
                  <a:pt x="133127" y="163786"/>
                  <a:pt x="148457" y="148457"/>
                </a:cubicBezTo>
                <a:cubicBezTo>
                  <a:pt x="163786" y="133127"/>
                  <a:pt x="171450" y="114598"/>
                  <a:pt x="171450" y="92869"/>
                </a:cubicBezTo>
                <a:cubicBezTo>
                  <a:pt x="171450" y="86916"/>
                  <a:pt x="170706" y="80963"/>
                  <a:pt x="169218" y="75010"/>
                </a:cubicBezTo>
                <a:lnTo>
                  <a:pt x="180827" y="63401"/>
                </a:lnTo>
                <a:cubicBezTo>
                  <a:pt x="184101" y="72033"/>
                  <a:pt x="185738" y="81856"/>
                  <a:pt x="185738" y="92869"/>
                </a:cubicBezTo>
                <a:cubicBezTo>
                  <a:pt x="185738" y="118468"/>
                  <a:pt x="176659" y="140345"/>
                  <a:pt x="158502" y="158502"/>
                </a:cubicBezTo>
                <a:cubicBezTo>
                  <a:pt x="140345" y="176659"/>
                  <a:pt x="118468" y="185738"/>
                  <a:pt x="92869" y="185738"/>
                </a:cubicBezTo>
                <a:cubicBezTo>
                  <a:pt x="67271" y="185738"/>
                  <a:pt x="45393" y="176659"/>
                  <a:pt x="27236" y="158502"/>
                </a:cubicBezTo>
                <a:cubicBezTo>
                  <a:pt x="9079" y="140345"/>
                  <a:pt x="0" y="118468"/>
                  <a:pt x="0" y="92869"/>
                </a:cubicBezTo>
                <a:cubicBezTo>
                  <a:pt x="0" y="67271"/>
                  <a:pt x="9079" y="45393"/>
                  <a:pt x="27236" y="27236"/>
                </a:cubicBezTo>
                <a:cubicBezTo>
                  <a:pt x="45393" y="9079"/>
                  <a:pt x="67271" y="0"/>
                  <a:pt x="928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828526">
              <a:defRPr/>
            </a:pPr>
            <a:endParaRPr lang="pt-BR" sz="7200" noProof="0" dirty="0">
              <a:solidFill>
                <a:prstClr val="black"/>
              </a:solidFill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4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9693-2BFC-A17B-D5AB-4F2EFB6176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noProof="0" smtClean="0"/>
              <a:t>3</a:t>
            </a:fld>
            <a:endParaRPr lang="pt-BR" noProof="0"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A2059040-4955-40C2-71C9-3AB611B08A0B}"/>
              </a:ext>
            </a:extLst>
          </p:cNvPr>
          <p:cNvSpPr txBox="1"/>
          <p:nvPr/>
        </p:nvSpPr>
        <p:spPr>
          <a:xfrm>
            <a:off x="640624" y="535577"/>
            <a:ext cx="649499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ANÁLISE Mensal DAS receitas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650270D-BACB-7FF5-A276-244DD254F7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481116"/>
              </p:ext>
            </p:extLst>
          </p:nvPr>
        </p:nvGraphicFramePr>
        <p:xfrm>
          <a:off x="640624" y="1243423"/>
          <a:ext cx="10351920" cy="54780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171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D8FCB-5149-830D-C721-C374FD84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E6051-E411-615E-CA30-5D7422F55E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noProof="0" smtClean="0"/>
              <a:t>4</a:t>
            </a:fld>
            <a:endParaRPr lang="pt-BR" noProof="0"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6E3DD335-BC6D-C612-E371-494F36DDB9F6}"/>
              </a:ext>
            </a:extLst>
          </p:cNvPr>
          <p:cNvSpPr txBox="1"/>
          <p:nvPr/>
        </p:nvSpPr>
        <p:spPr>
          <a:xfrm>
            <a:off x="640624" y="535577"/>
            <a:ext cx="783164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ANÁLISE DAS DESPESAS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395165C-3D81-8E8D-6727-DE218030A9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070613"/>
              </p:ext>
            </p:extLst>
          </p:nvPr>
        </p:nvGraphicFramePr>
        <p:xfrm>
          <a:off x="807328" y="1412776"/>
          <a:ext cx="10577344" cy="4746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022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1FC29B9-133F-4B5A-9A00-3E177712B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2892183"/>
              </p:ext>
            </p:extLst>
          </p:nvPr>
        </p:nvGraphicFramePr>
        <p:xfrm>
          <a:off x="805423" y="1308350"/>
          <a:ext cx="10581154" cy="5014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9693-2BFC-A17B-D5AB-4F2EFB6176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noProof="0" smtClean="0"/>
              <a:t>5</a:t>
            </a:fld>
            <a:endParaRPr lang="pt-BR" noProof="0"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A2059040-4955-40C2-71C9-3AB611B08A0B}"/>
              </a:ext>
            </a:extLst>
          </p:cNvPr>
          <p:cNvSpPr txBox="1"/>
          <p:nvPr/>
        </p:nvSpPr>
        <p:spPr>
          <a:xfrm>
            <a:off x="640624" y="535577"/>
            <a:ext cx="783164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ANÁLISE DAS DESPESAS administrativas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861BB2-A87A-574F-2606-649AD9F8EC2C}"/>
              </a:ext>
            </a:extLst>
          </p:cNvPr>
          <p:cNvSpPr/>
          <p:nvPr/>
        </p:nvSpPr>
        <p:spPr>
          <a:xfrm>
            <a:off x="1453466" y="1412776"/>
            <a:ext cx="1402174" cy="32403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kern="1200"/>
          </a:p>
        </p:txBody>
      </p:sp>
    </p:spTree>
    <p:extLst>
      <p:ext uri="{BB962C8B-B14F-4D97-AF65-F5344CB8AC3E}">
        <p14:creationId xmlns:p14="http://schemas.microsoft.com/office/powerpoint/2010/main" val="161173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DCF6-1B3D-D702-91ED-56B525A122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sp>
        <p:nvSpPr>
          <p:cNvPr id="7" name="Google Shape;109;p14">
            <a:extLst>
              <a:ext uri="{FF2B5EF4-FFF2-40B4-BE49-F238E27FC236}">
                <a16:creationId xmlns:a16="http://schemas.microsoft.com/office/drawing/2014/main" id="{645C210E-9318-1F4F-E3D3-15695F4A219B}"/>
              </a:ext>
            </a:extLst>
          </p:cNvPr>
          <p:cNvSpPr txBox="1"/>
          <p:nvPr/>
        </p:nvSpPr>
        <p:spPr>
          <a:xfrm>
            <a:off x="640624" y="535577"/>
            <a:ext cx="783164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ANÁLISE DAS DESPESAS administrativas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8030B8-E916-7615-A9F7-2B872DD55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98307"/>
              </p:ext>
            </p:extLst>
          </p:nvPr>
        </p:nvGraphicFramePr>
        <p:xfrm>
          <a:off x="407368" y="1220643"/>
          <a:ext cx="11416114" cy="5380620"/>
        </p:xfrm>
        <a:graphic>
          <a:graphicData uri="http://schemas.openxmlformats.org/drawingml/2006/table">
            <a:tbl>
              <a:tblPr firstRow="1" firstCol="1" lastRow="1" lastCol="1" bandRow="1">
                <a:tableStyleId>{FABFCF23-3B69-468F-B69F-88F6DE6A72F2}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3043776585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647336988"/>
                    </a:ext>
                  </a:extLst>
                </a:gridCol>
                <a:gridCol w="2660747">
                  <a:extLst>
                    <a:ext uri="{9D8B030D-6E8A-4147-A177-3AD203B41FA5}">
                      <a16:colId xmlns:a16="http://schemas.microsoft.com/office/drawing/2014/main" val="2146328165"/>
                    </a:ext>
                  </a:extLst>
                </a:gridCol>
                <a:gridCol w="2524565">
                  <a:extLst>
                    <a:ext uri="{9D8B030D-6E8A-4147-A177-3AD203B41FA5}">
                      <a16:colId xmlns:a16="http://schemas.microsoft.com/office/drawing/2014/main" val="499784759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867020354"/>
                    </a:ext>
                  </a:extLst>
                </a:gridCol>
                <a:gridCol w="722802">
                  <a:extLst>
                    <a:ext uri="{9D8B030D-6E8A-4147-A177-3AD203B41FA5}">
                      <a16:colId xmlns:a16="http://schemas.microsoft.com/office/drawing/2014/main" val="1196050741"/>
                    </a:ext>
                  </a:extLst>
                </a:gridCol>
              </a:tblGrid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 Financeira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Descricao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 para / Recebido 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763409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LOJAS AMERICANAS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-39,92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8881839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VALORI*CANA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-42,86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096397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ROYETRONIC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-45,00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7513529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EXTRACARTUCHOS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4443879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Peças de computador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MAGAZINE LUIZA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-86,22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9296184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Thaynara - Itaú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KABUM KABUM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-94,04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209735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SUPERMERCADO MOREIRA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-104,70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5401449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 VI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-134,62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2777872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Mouses para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MAGAZINE LUIZA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-185,98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6734021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ferialafifye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-252,00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8379911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-333,24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6712947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Thaynara - Itaú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ATVAQUA*ATVAQUA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-353,75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3322369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Dra Thaynara - Itaú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BRASIL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-386,00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6441327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Cartão de Crédito Dr Ivanildo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MERCADO CENTRAL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BANCO ITAU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-395,42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0025132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Materiais de construção - Obra girassol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Material de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PABLO CAVALCANTE MENDONÇA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-900,00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3461416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Insumos pedreiro Girassol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JOAO BATISTA PEREIRA DA SILVA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-56,40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8527566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Tintas para reforma - Girassol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UNITINTAS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-172,11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1419890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Reforma do banheiro Dra Sarah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EDER ELIEL RIGONATO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-554,90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5170405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Espelho para banheiro -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WILLIAN DUARTE DE SOUZA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-650,00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033251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Parcela da reforma -  Banheiro Sarah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EDVAN CANDIDO DOS SANTOS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-1.000,00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6891140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Mão de obra - Pedreiro Girassol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JOAO BATISTA PEREIRA DA SILVA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-1.000,00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7959878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Gesso para reforma escritório Girassol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GESSO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-1.721,50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6330651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Cuba e pedras do Banheiro - Reforma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REQUINT MARMORARIA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-2.350,00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8427080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Mão de obra - Pedreiro Girassol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JOAO BATISTA PEREIRA DA SILVA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-2.500,00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4147186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Arquiteta - Projeto escritório Goiânia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AMANDA MONTEIRO DOS SANTOS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-3.300,00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3256257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07/01/2026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- Lisboa e Lisboa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Pisos para escritório de Girassois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 - Manutenção do Escritório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SÓ REPAROS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-10.000,00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782486"/>
                  </a:ext>
                </a:extLst>
              </a:tr>
              <a:tr h="192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-26.718,66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2882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707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A3B349-AAF1-931A-D940-E8205D25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E7393-F23F-51D5-C1C7-3BD75CED87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noProof="0" smtClean="0"/>
              <a:t>7</a:t>
            </a:fld>
            <a:endParaRPr lang="pt-BR" noProof="0"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C451D798-73E0-D9CE-1EB1-406015EEAC99}"/>
              </a:ext>
            </a:extLst>
          </p:cNvPr>
          <p:cNvSpPr txBox="1"/>
          <p:nvPr/>
        </p:nvSpPr>
        <p:spPr>
          <a:xfrm>
            <a:off x="640624" y="535577"/>
            <a:ext cx="783164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ANÁLISE DAS DESPESAS COM PESSOAL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AD21187-40F4-4B5D-93B6-7C4F131FBB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724420"/>
              </p:ext>
            </p:extLst>
          </p:nvPr>
        </p:nvGraphicFramePr>
        <p:xfrm>
          <a:off x="833437" y="1229935"/>
          <a:ext cx="10525125" cy="5074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93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A56DEF-2EA4-BE4A-7170-9AC3D136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EA2C1-C43E-F02F-D361-38D1C3D043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noProof="0" smtClean="0"/>
              <a:t>8</a:t>
            </a:fld>
            <a:endParaRPr lang="pt-BR" noProof="0" dirty="0"/>
          </a:p>
        </p:txBody>
      </p:sp>
      <p:sp>
        <p:nvSpPr>
          <p:cNvPr id="5" name="Google Shape;109;p14">
            <a:extLst>
              <a:ext uri="{FF2B5EF4-FFF2-40B4-BE49-F238E27FC236}">
                <a16:creationId xmlns:a16="http://schemas.microsoft.com/office/drawing/2014/main" id="{3FEEF282-D5D5-D1BF-EFE6-52736993E5C4}"/>
              </a:ext>
            </a:extLst>
          </p:cNvPr>
          <p:cNvSpPr txBox="1"/>
          <p:nvPr/>
        </p:nvSpPr>
        <p:spPr>
          <a:xfrm>
            <a:off x="640624" y="535577"/>
            <a:ext cx="783164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ANÁLISE DAS DESPESAS </a:t>
            </a:r>
            <a:r>
              <a:rPr lang="pt-BR" sz="400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COMERCIAIS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31B6B00-EC00-4185-B6F2-9483B93DAB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933180"/>
              </p:ext>
            </p:extLst>
          </p:nvPr>
        </p:nvGraphicFramePr>
        <p:xfrm>
          <a:off x="805423" y="921963"/>
          <a:ext cx="10581154" cy="409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FF242F-0BBF-2492-2309-38853B8F4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589089"/>
              </p:ext>
            </p:extLst>
          </p:nvPr>
        </p:nvGraphicFramePr>
        <p:xfrm>
          <a:off x="2413000" y="5168354"/>
          <a:ext cx="7366000" cy="996950"/>
        </p:xfrm>
        <a:graphic>
          <a:graphicData uri="http://schemas.openxmlformats.org/drawingml/2006/table">
            <a:tbl>
              <a:tblPr/>
              <a:tblGrid>
                <a:gridCol w="3225800">
                  <a:extLst>
                    <a:ext uri="{9D8B030D-6E8A-4147-A177-3AD203B41FA5}">
                      <a16:colId xmlns:a16="http://schemas.microsoft.com/office/drawing/2014/main" val="363749878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29486560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218095165"/>
                    </a:ext>
                  </a:extLst>
                </a:gridCol>
              </a:tblGrid>
              <a:tr h="66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Descricao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 para / Recebido 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87190"/>
                  </a:ext>
                </a:extLst>
              </a:tr>
              <a:tr h="66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CESTAS E PRESENTES PARA DOAÇÃO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THIAGO SILVA AGUIAR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3.992,00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76602"/>
                  </a:ext>
                </a:extLst>
              </a:tr>
              <a:tr h="66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AÇÃO SOCIAL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CAPPTA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450,00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846189"/>
                  </a:ext>
                </a:extLst>
              </a:tr>
              <a:tr h="66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Prêmio São Paulo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INQS - Instituto Nacional da Qualidade Social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925,00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4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949234"/>
                  </a:ext>
                </a:extLst>
              </a:tr>
              <a:tr h="661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5.367,00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3940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3F8670F-8D0D-FB26-F701-3401160AC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27993"/>
              </p:ext>
            </p:extLst>
          </p:nvPr>
        </p:nvGraphicFramePr>
        <p:xfrm>
          <a:off x="2413000" y="6269310"/>
          <a:ext cx="7366000" cy="400050"/>
        </p:xfrm>
        <a:graphic>
          <a:graphicData uri="http://schemas.openxmlformats.org/drawingml/2006/table">
            <a:tbl>
              <a:tblPr/>
              <a:tblGrid>
                <a:gridCol w="3225800">
                  <a:extLst>
                    <a:ext uri="{9D8B030D-6E8A-4147-A177-3AD203B41FA5}">
                      <a16:colId xmlns:a16="http://schemas.microsoft.com/office/drawing/2014/main" val="3727511524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314732665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61601698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Descricao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 para / Recebido 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8242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Cestas e Panetones de parceiros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CASA CAFE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2.347,11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3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94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45AD48-6EA9-BAB6-7835-920A5AFB4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23" y="1484784"/>
            <a:ext cx="10495446" cy="5099031"/>
          </a:xfrm>
          <a:prstGeom prst="rect">
            <a:avLst/>
          </a:prstGeom>
        </p:spPr>
      </p:pic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9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sp>
        <p:nvSpPr>
          <p:cNvPr id="12" name="Google Shape;131;p16"/>
          <p:cNvSpPr txBox="1"/>
          <p:nvPr/>
        </p:nvSpPr>
        <p:spPr>
          <a:xfrm>
            <a:off x="669200" y="1124758"/>
            <a:ext cx="87391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914400">
              <a:defRPr sz="1100" spc="0">
                <a:solidFill>
                  <a:srgbClr val="2F5496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noProof="0" dirty="0">
                <a:sym typeface="Calibri"/>
              </a:rPr>
              <a:t>EVOLUÇÃO DE SALDO FINANCEIRO E GERAÇÃO DE CAIXA | CENÁRIO REALISTA</a:t>
            </a:r>
            <a:endParaRPr lang="pt-BR" noProof="0" dirty="0"/>
          </a:p>
        </p:txBody>
      </p:sp>
      <p:sp>
        <p:nvSpPr>
          <p:cNvPr id="13" name="Google Shape;109;p14"/>
          <p:cNvSpPr txBox="1"/>
          <p:nvPr/>
        </p:nvSpPr>
        <p:spPr>
          <a:xfrm>
            <a:off x="640625" y="535577"/>
            <a:ext cx="69507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pt-BR" sz="3600" noProof="0" dirty="0">
                <a:solidFill>
                  <a:srgbClr val="262626"/>
                </a:solidFill>
                <a:latin typeface="Bebas Neue" panose="020B0606020202050201" pitchFamily="34" charset="0"/>
                <a:ea typeface="Roboto" panose="02000000000000000000" pitchFamily="2" charset="0"/>
                <a:cs typeface="Calibri"/>
                <a:sym typeface="Calibri"/>
              </a:rPr>
              <a:t>Profecia</a:t>
            </a:r>
            <a:r>
              <a:rPr lang="pt-BR" sz="2400" noProof="0" dirty="0">
                <a:solidFill>
                  <a:srgbClr val="262626"/>
                </a:solidFill>
                <a:latin typeface="Bebas Neue" panose="020B0606020202050201" pitchFamily="34" charset="0"/>
                <a:ea typeface="Roboto" panose="02000000000000000000" pitchFamily="2" charset="0"/>
                <a:cs typeface="Calibri"/>
                <a:sym typeface="Calibri"/>
              </a:rPr>
              <a:t>®</a:t>
            </a:r>
            <a:endParaRPr lang="pt-BR" noProof="0" dirty="0">
              <a:latin typeface="Bebas Neue" panose="020B0606020202050201" pitchFamily="34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FE7E6-188E-55F0-6FA8-D36DEB40F150}"/>
              </a:ext>
            </a:extLst>
          </p:cNvPr>
          <p:cNvSpPr/>
          <p:nvPr/>
        </p:nvSpPr>
        <p:spPr>
          <a:xfrm>
            <a:off x="7979797" y="1484784"/>
            <a:ext cx="3401219" cy="1193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36949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9;p14"/>
          <p:cNvSpPr txBox="1"/>
          <p:nvPr/>
        </p:nvSpPr>
        <p:spPr>
          <a:xfrm>
            <a:off x="640624" y="535577"/>
            <a:ext cx="649499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Visão de Bordo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10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69200" y="1079158"/>
            <a:ext cx="7232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>
              <a:defRPr sz="1100" spc="300">
                <a:solidFill>
                  <a:srgbClr val="3F3F3F">
                    <a:lumMod val="60000"/>
                    <a:lumOff val="40000"/>
                  </a:srgbClr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spc="0" noProof="0" dirty="0">
                <a:solidFill>
                  <a:srgbClr val="2F5496"/>
                </a:solidFill>
                <a:sym typeface="Calibri"/>
              </a:rPr>
              <a:t>RESULTADO DO MÊS | OUTUBRO 2023</a:t>
            </a:r>
            <a:endParaRPr lang="pt-BR" spc="0" noProof="0" dirty="0">
              <a:solidFill>
                <a:srgbClr val="2F5496"/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696140" y="1790342"/>
            <a:ext cx="3372443" cy="1007011"/>
            <a:chOff x="696140" y="1790342"/>
            <a:chExt cx="3372443" cy="1007011"/>
          </a:xfrm>
        </p:grpSpPr>
        <p:sp>
          <p:nvSpPr>
            <p:cNvPr id="66" name="Rounded Rectangle 6"/>
            <p:cNvSpPr/>
            <p:nvPr/>
          </p:nvSpPr>
          <p:spPr>
            <a:xfrm>
              <a:off x="696140" y="1790342"/>
              <a:ext cx="3372443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7" name="TextBox 45"/>
            <p:cNvSpPr txBox="1"/>
            <p:nvPr/>
          </p:nvSpPr>
          <p:spPr>
            <a:xfrm>
              <a:off x="777911" y="1879352"/>
              <a:ext cx="26956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R$ 153.610</a:t>
              </a:r>
            </a:p>
          </p:txBody>
        </p:sp>
        <p:sp>
          <p:nvSpPr>
            <p:cNvPr id="58" name="TextBox 46"/>
            <p:cNvSpPr txBox="1"/>
            <p:nvPr/>
          </p:nvSpPr>
          <p:spPr>
            <a:xfrm>
              <a:off x="777911" y="2293848"/>
              <a:ext cx="2605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Receitas totais</a:t>
              </a:r>
            </a:p>
          </p:txBody>
        </p:sp>
        <p:sp>
          <p:nvSpPr>
            <p:cNvPr id="59" name="Rounded Rectangle 48"/>
            <p:cNvSpPr/>
            <p:nvPr/>
          </p:nvSpPr>
          <p:spPr>
            <a:xfrm>
              <a:off x="827180" y="2616422"/>
              <a:ext cx="3060943" cy="48284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schemeClr val="bg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0" name="Freeform 43"/>
            <p:cNvSpPr/>
            <p:nvPr/>
          </p:nvSpPr>
          <p:spPr>
            <a:xfrm>
              <a:off x="3709392" y="1912866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4392827" y="1790342"/>
            <a:ext cx="3372443" cy="1007011"/>
            <a:chOff x="4392827" y="1790342"/>
            <a:chExt cx="3372443" cy="1007011"/>
          </a:xfrm>
        </p:grpSpPr>
        <p:sp>
          <p:nvSpPr>
            <p:cNvPr id="71" name="Rounded Rectangle 6"/>
            <p:cNvSpPr/>
            <p:nvPr/>
          </p:nvSpPr>
          <p:spPr>
            <a:xfrm>
              <a:off x="4392827" y="1790342"/>
              <a:ext cx="3372443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6" name="TextBox 45"/>
            <p:cNvSpPr txBox="1"/>
            <p:nvPr/>
          </p:nvSpPr>
          <p:spPr>
            <a:xfrm>
              <a:off x="4511376" y="1857857"/>
              <a:ext cx="27395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R$ 134.238</a:t>
              </a:r>
            </a:p>
          </p:txBody>
        </p:sp>
        <p:sp>
          <p:nvSpPr>
            <p:cNvPr id="37" name="TextBox 46"/>
            <p:cNvSpPr txBox="1"/>
            <p:nvPr/>
          </p:nvSpPr>
          <p:spPr>
            <a:xfrm>
              <a:off x="4516408" y="2272353"/>
              <a:ext cx="2605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Gastos totais</a:t>
              </a:r>
            </a:p>
          </p:txBody>
        </p:sp>
        <p:sp>
          <p:nvSpPr>
            <p:cNvPr id="38" name="Rounded Rectangle 48"/>
            <p:cNvSpPr/>
            <p:nvPr/>
          </p:nvSpPr>
          <p:spPr>
            <a:xfrm>
              <a:off x="4548577" y="2594927"/>
              <a:ext cx="2587046" cy="45719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schemeClr val="bg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5" name="Freeform 44"/>
            <p:cNvSpPr/>
            <p:nvPr/>
          </p:nvSpPr>
          <p:spPr>
            <a:xfrm>
              <a:off x="7135622" y="194745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709876" y="3127752"/>
            <a:ext cx="2505803" cy="874886"/>
            <a:chOff x="709876" y="3130178"/>
            <a:chExt cx="2505803" cy="874886"/>
          </a:xfrm>
        </p:grpSpPr>
        <p:sp>
          <p:nvSpPr>
            <p:cNvPr id="30" name="Rounded Rectangle 40"/>
            <p:cNvSpPr/>
            <p:nvPr/>
          </p:nvSpPr>
          <p:spPr>
            <a:xfrm>
              <a:off x="709876" y="3130178"/>
              <a:ext cx="2505803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9" name="Freeform 43"/>
            <p:cNvSpPr/>
            <p:nvPr/>
          </p:nvSpPr>
          <p:spPr>
            <a:xfrm>
              <a:off x="2764070" y="3320135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schemeClr val="tx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1" name="TextBox 45"/>
            <p:cNvSpPr txBox="1"/>
            <p:nvPr/>
          </p:nvSpPr>
          <p:spPr>
            <a:xfrm>
              <a:off x="813911" y="3284984"/>
              <a:ext cx="17059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R$ 152.249</a:t>
              </a:r>
            </a:p>
          </p:txBody>
        </p:sp>
        <p:sp>
          <p:nvSpPr>
            <p:cNvPr id="55" name="TextBox 46"/>
            <p:cNvSpPr txBox="1"/>
            <p:nvPr/>
          </p:nvSpPr>
          <p:spPr>
            <a:xfrm>
              <a:off x="837127" y="3687384"/>
              <a:ext cx="182241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receitas operacionais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3436588" y="3127752"/>
            <a:ext cx="2808699" cy="875797"/>
            <a:chOff x="3518574" y="3127752"/>
            <a:chExt cx="2808699" cy="875797"/>
          </a:xfrm>
        </p:grpSpPr>
        <p:sp>
          <p:nvSpPr>
            <p:cNvPr id="54" name="Rounded Rectangle 70"/>
            <p:cNvSpPr/>
            <p:nvPr/>
          </p:nvSpPr>
          <p:spPr>
            <a:xfrm>
              <a:off x="3518574" y="3127752"/>
              <a:ext cx="2505803" cy="875797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3575720" y="3284984"/>
              <a:ext cx="12032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93%</a:t>
              </a: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606285" y="3666105"/>
              <a:ext cx="272098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bg1">
                      <a:lumMod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margem de contribuição (MC)</a:t>
              </a:r>
            </a:p>
          </p:txBody>
        </p:sp>
        <p:pic>
          <p:nvPicPr>
            <p:cNvPr id="1026" name="Picture 2" descr="C:\Users\jonatasamorim\Downloads\grafico-de-pizz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6016" y="3284984"/>
              <a:ext cx="353777" cy="35377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upo 12"/>
          <p:cNvGrpSpPr/>
          <p:nvPr/>
        </p:nvGrpSpPr>
        <p:grpSpPr>
          <a:xfrm>
            <a:off x="6181204" y="3127752"/>
            <a:ext cx="2505803" cy="862995"/>
            <a:chOff x="6238631" y="3142069"/>
            <a:chExt cx="2505803" cy="862995"/>
          </a:xfrm>
        </p:grpSpPr>
        <p:sp>
          <p:nvSpPr>
            <p:cNvPr id="40" name="Rounded Rectangle 60"/>
            <p:cNvSpPr/>
            <p:nvPr/>
          </p:nvSpPr>
          <p:spPr>
            <a:xfrm>
              <a:off x="6238631" y="3142069"/>
              <a:ext cx="2505803" cy="862995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5" name="TextBox 61"/>
            <p:cNvSpPr txBox="1"/>
            <p:nvPr/>
          </p:nvSpPr>
          <p:spPr>
            <a:xfrm>
              <a:off x="6435462" y="3284984"/>
              <a:ext cx="15360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R$ 103.659</a:t>
              </a:r>
            </a:p>
          </p:txBody>
        </p:sp>
        <p:sp>
          <p:nvSpPr>
            <p:cNvPr id="46" name="TextBox 62"/>
            <p:cNvSpPr txBox="1"/>
            <p:nvPr/>
          </p:nvSpPr>
          <p:spPr>
            <a:xfrm>
              <a:off x="6444576" y="3717032"/>
              <a:ext cx="182241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bg1">
                      <a:lumMod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gastos fixos totais</a:t>
              </a:r>
            </a:p>
          </p:txBody>
        </p:sp>
        <p:sp>
          <p:nvSpPr>
            <p:cNvPr id="81" name="Freeform 44"/>
            <p:cNvSpPr/>
            <p:nvPr/>
          </p:nvSpPr>
          <p:spPr>
            <a:xfrm>
              <a:off x="8148825" y="3289709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8950378" y="3127752"/>
            <a:ext cx="2505803" cy="880852"/>
            <a:chOff x="8950378" y="3135934"/>
            <a:chExt cx="2505803" cy="880852"/>
          </a:xfrm>
        </p:grpSpPr>
        <p:sp>
          <p:nvSpPr>
            <p:cNvPr id="23" name="Rounded Rectangle 6"/>
            <p:cNvSpPr/>
            <p:nvPr/>
          </p:nvSpPr>
          <p:spPr>
            <a:xfrm>
              <a:off x="8950378" y="3135934"/>
              <a:ext cx="2505803" cy="880852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24" name="TextBox 7"/>
            <p:cNvSpPr txBox="1"/>
            <p:nvPr/>
          </p:nvSpPr>
          <p:spPr>
            <a:xfrm>
              <a:off x="9175488" y="3284984"/>
              <a:ext cx="1529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defTabSz="914080">
                <a:defRPr sz="280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defRPr>
              </a:lvl1pPr>
            </a:lstStyle>
            <a:p>
              <a:r>
                <a:rPr lang="pt-BR" noProof="0" dirty="0"/>
                <a:t>R$ 275.805</a:t>
              </a:r>
            </a:p>
          </p:txBody>
        </p:sp>
        <p:sp>
          <p:nvSpPr>
            <p:cNvPr id="25" name="TextBox 8"/>
            <p:cNvSpPr txBox="1"/>
            <p:nvPr/>
          </p:nvSpPr>
          <p:spPr>
            <a:xfrm>
              <a:off x="9188758" y="3717032"/>
              <a:ext cx="21536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bg1">
                      <a:lumMod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saldo em 31 de Outubro</a:t>
              </a:r>
            </a:p>
          </p:txBody>
        </p:sp>
        <p:pic>
          <p:nvPicPr>
            <p:cNvPr id="1027" name="Picture 3" descr="C:\Users\jonatasamorim\Downloads\wallet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16057" y="3295865"/>
              <a:ext cx="375071" cy="37507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upo 3"/>
          <p:cNvGrpSpPr/>
          <p:nvPr/>
        </p:nvGrpSpPr>
        <p:grpSpPr>
          <a:xfrm>
            <a:off x="724674" y="4204127"/>
            <a:ext cx="2503190" cy="874886"/>
            <a:chOff x="709877" y="5261067"/>
            <a:chExt cx="2503190" cy="874886"/>
          </a:xfrm>
        </p:grpSpPr>
        <p:sp>
          <p:nvSpPr>
            <p:cNvPr id="67" name="Rounded Rectangle 40"/>
            <p:cNvSpPr/>
            <p:nvPr/>
          </p:nvSpPr>
          <p:spPr>
            <a:xfrm>
              <a:off x="709877" y="5261067"/>
              <a:ext cx="2503190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3" name="TextBox 45"/>
            <p:cNvSpPr txBox="1"/>
            <p:nvPr/>
          </p:nvSpPr>
          <p:spPr>
            <a:xfrm>
              <a:off x="839416" y="5467677"/>
              <a:ext cx="125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R$ 37.876</a:t>
              </a:r>
            </a:p>
          </p:txBody>
        </p:sp>
        <p:sp>
          <p:nvSpPr>
            <p:cNvPr id="50" name="Google Shape;111;p14"/>
            <p:cNvSpPr txBox="1"/>
            <p:nvPr/>
          </p:nvSpPr>
          <p:spPr>
            <a:xfrm>
              <a:off x="1883587" y="5330027"/>
              <a:ext cx="1052914" cy="736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resultado operacional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709876" y="5278076"/>
            <a:ext cx="2503191" cy="874886"/>
            <a:chOff x="709876" y="4195622"/>
            <a:chExt cx="2503191" cy="874886"/>
          </a:xfrm>
        </p:grpSpPr>
        <p:sp>
          <p:nvSpPr>
            <p:cNvPr id="68" name="Rounded Rectangle 40"/>
            <p:cNvSpPr/>
            <p:nvPr/>
          </p:nvSpPr>
          <p:spPr>
            <a:xfrm>
              <a:off x="709876" y="4195622"/>
              <a:ext cx="2503191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9" name="Google Shape;111;p14"/>
            <p:cNvSpPr txBox="1"/>
            <p:nvPr/>
          </p:nvSpPr>
          <p:spPr>
            <a:xfrm>
              <a:off x="1512015" y="4221088"/>
              <a:ext cx="1631657" cy="7467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r>
                <a:rPr lang="pt-BR" noProof="0" dirty="0">
                  <a:sym typeface="Calibri"/>
                </a:rPr>
                <a:t>de aumento das  receitas operacionais </a:t>
              </a:r>
              <a:r>
                <a:rPr lang="pt-BR" sz="800" noProof="0" dirty="0">
                  <a:sym typeface="Calibri"/>
                </a:rPr>
                <a:t>em relação ao mês anterior</a:t>
              </a:r>
            </a:p>
          </p:txBody>
        </p:sp>
        <p:sp>
          <p:nvSpPr>
            <p:cNvPr id="49" name="TextBox 68"/>
            <p:cNvSpPr txBox="1"/>
            <p:nvPr/>
          </p:nvSpPr>
          <p:spPr>
            <a:xfrm>
              <a:off x="1034700" y="4429847"/>
              <a:ext cx="6688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accent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18%</a:t>
              </a:r>
            </a:p>
          </p:txBody>
        </p:sp>
        <p:sp>
          <p:nvSpPr>
            <p:cNvPr id="80" name="Isosceles Triangle 174"/>
            <p:cNvSpPr/>
            <p:nvPr/>
          </p:nvSpPr>
          <p:spPr>
            <a:xfrm>
              <a:off x="839416" y="4558724"/>
              <a:ext cx="170758" cy="1664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3436589" y="4204127"/>
            <a:ext cx="2505802" cy="874886"/>
            <a:chOff x="3518575" y="4195622"/>
            <a:chExt cx="2505802" cy="874886"/>
          </a:xfrm>
        </p:grpSpPr>
        <p:sp>
          <p:nvSpPr>
            <p:cNvPr id="69" name="Rounded Rectangle 40"/>
            <p:cNvSpPr/>
            <p:nvPr/>
          </p:nvSpPr>
          <p:spPr>
            <a:xfrm>
              <a:off x="3518575" y="4195622"/>
              <a:ext cx="2505802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6" name="TextBox 68"/>
            <p:cNvSpPr txBox="1"/>
            <p:nvPr/>
          </p:nvSpPr>
          <p:spPr>
            <a:xfrm>
              <a:off x="3805447" y="4402232"/>
              <a:ext cx="9224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18%</a:t>
              </a:r>
            </a:p>
          </p:txBody>
        </p:sp>
        <p:sp>
          <p:nvSpPr>
            <p:cNvPr id="77" name="Isosceles Triangle 174"/>
            <p:cNvSpPr/>
            <p:nvPr/>
          </p:nvSpPr>
          <p:spPr>
            <a:xfrm>
              <a:off x="3652613" y="4522240"/>
              <a:ext cx="170758" cy="1664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88" name="Google Shape;111;p14"/>
            <p:cNvSpPr txBox="1"/>
            <p:nvPr/>
          </p:nvSpPr>
          <p:spPr>
            <a:xfrm>
              <a:off x="4374579" y="4325608"/>
              <a:ext cx="1649798" cy="687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de aumento nos </a:t>
              </a:r>
            </a:p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gastos fixos</a:t>
              </a:r>
            </a:p>
            <a:p>
              <a:pPr>
                <a:spcBef>
                  <a:spcPts val="0"/>
                </a:spcBef>
              </a:pPr>
              <a:r>
                <a:rPr lang="pt-BR" sz="800" noProof="0" dirty="0">
                  <a:sym typeface="Calibri"/>
                </a:rPr>
                <a:t>em relação ao mês anterior</a:t>
              </a: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6177049" y="4204127"/>
            <a:ext cx="2518999" cy="874886"/>
            <a:chOff x="6234476" y="4196250"/>
            <a:chExt cx="2518999" cy="874886"/>
          </a:xfrm>
        </p:grpSpPr>
        <p:sp>
          <p:nvSpPr>
            <p:cNvPr id="82" name="Rounded Rectangle 40"/>
            <p:cNvSpPr/>
            <p:nvPr/>
          </p:nvSpPr>
          <p:spPr>
            <a:xfrm>
              <a:off x="6234476" y="4196250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83" name="TextBox 45"/>
            <p:cNvSpPr txBox="1"/>
            <p:nvPr/>
          </p:nvSpPr>
          <p:spPr>
            <a:xfrm>
              <a:off x="6384417" y="4402860"/>
              <a:ext cx="125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R$ 6.210</a:t>
              </a:r>
            </a:p>
          </p:txBody>
        </p:sp>
        <p:sp>
          <p:nvSpPr>
            <p:cNvPr id="84" name="Google Shape;111;p14"/>
            <p:cNvSpPr txBox="1"/>
            <p:nvPr/>
          </p:nvSpPr>
          <p:spPr>
            <a:xfrm>
              <a:off x="7377564" y="4265210"/>
              <a:ext cx="1336178" cy="8059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gasto com marketing </a:t>
              </a:r>
              <a:br>
                <a:rPr lang="pt-BR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(fotos e brindes)</a:t>
              </a: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8950378" y="4204127"/>
            <a:ext cx="2518999" cy="874886"/>
            <a:chOff x="8950378" y="4208052"/>
            <a:chExt cx="2518999" cy="874886"/>
          </a:xfrm>
        </p:grpSpPr>
        <p:sp>
          <p:nvSpPr>
            <p:cNvPr id="73" name="Rounded Rectangle 40"/>
            <p:cNvSpPr/>
            <p:nvPr/>
          </p:nvSpPr>
          <p:spPr>
            <a:xfrm>
              <a:off x="8950378" y="4208052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85" name="TextBox 45"/>
            <p:cNvSpPr txBox="1"/>
            <p:nvPr/>
          </p:nvSpPr>
          <p:spPr>
            <a:xfrm>
              <a:off x="9048328" y="4414662"/>
              <a:ext cx="12535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0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2.7 MESES</a:t>
              </a:r>
            </a:p>
          </p:txBody>
        </p:sp>
        <p:sp>
          <p:nvSpPr>
            <p:cNvPr id="86" name="Google Shape;111;p14"/>
            <p:cNvSpPr txBox="1"/>
            <p:nvPr/>
          </p:nvSpPr>
          <p:spPr>
            <a:xfrm>
              <a:off x="10002276" y="4221088"/>
              <a:ext cx="1350308" cy="736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gastos fixos cobertos com o saldo existente </a:t>
              </a: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3431704" y="5278076"/>
            <a:ext cx="2517190" cy="874886"/>
            <a:chOff x="3513690" y="5263437"/>
            <a:chExt cx="2517190" cy="874886"/>
          </a:xfrm>
        </p:grpSpPr>
        <p:sp>
          <p:nvSpPr>
            <p:cNvPr id="56" name="Rounded Rectangle 40"/>
            <p:cNvSpPr/>
            <p:nvPr/>
          </p:nvSpPr>
          <p:spPr>
            <a:xfrm>
              <a:off x="3513690" y="5263437"/>
              <a:ext cx="2505802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62" name="Google Shape;111;p14"/>
            <p:cNvSpPr txBox="1"/>
            <p:nvPr/>
          </p:nvSpPr>
          <p:spPr>
            <a:xfrm>
              <a:off x="4385968" y="5363620"/>
              <a:ext cx="1644912" cy="774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de aumento nos </a:t>
              </a:r>
            </a:p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gastos totais</a:t>
              </a:r>
            </a:p>
            <a:p>
              <a:pPr>
                <a:spcBef>
                  <a:spcPts val="0"/>
                </a:spcBef>
              </a:pPr>
              <a:r>
                <a:rPr lang="pt-BR" sz="800" noProof="0" dirty="0">
                  <a:sym typeface="Calibri"/>
                </a:rPr>
                <a:t>em relação ao mês anterior</a:t>
              </a:r>
            </a:p>
          </p:txBody>
        </p:sp>
        <p:sp>
          <p:nvSpPr>
            <p:cNvPr id="63" name="TextBox 68"/>
            <p:cNvSpPr txBox="1"/>
            <p:nvPr/>
          </p:nvSpPr>
          <p:spPr>
            <a:xfrm>
              <a:off x="3800562" y="5470047"/>
              <a:ext cx="9224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0.7%</a:t>
              </a:r>
            </a:p>
          </p:txBody>
        </p:sp>
        <p:sp>
          <p:nvSpPr>
            <p:cNvPr id="64" name="Isosceles Triangle 174"/>
            <p:cNvSpPr/>
            <p:nvPr/>
          </p:nvSpPr>
          <p:spPr>
            <a:xfrm>
              <a:off x="3647728" y="5590055"/>
              <a:ext cx="170758" cy="1664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6168008" y="5278076"/>
            <a:ext cx="2518999" cy="874886"/>
            <a:chOff x="6225435" y="5263436"/>
            <a:chExt cx="2518999" cy="874886"/>
          </a:xfrm>
        </p:grpSpPr>
        <p:sp>
          <p:nvSpPr>
            <p:cNvPr id="92" name="Rounded Rectangle 40"/>
            <p:cNvSpPr/>
            <p:nvPr/>
          </p:nvSpPr>
          <p:spPr>
            <a:xfrm>
              <a:off x="6225435" y="5263436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3" name="TextBox 45"/>
            <p:cNvSpPr txBox="1"/>
            <p:nvPr/>
          </p:nvSpPr>
          <p:spPr>
            <a:xfrm>
              <a:off x="6400311" y="5470047"/>
              <a:ext cx="125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R$ 78.169</a:t>
              </a:r>
            </a:p>
          </p:txBody>
        </p:sp>
        <p:sp>
          <p:nvSpPr>
            <p:cNvPr id="94" name="Google Shape;111;p14"/>
            <p:cNvSpPr txBox="1"/>
            <p:nvPr/>
          </p:nvSpPr>
          <p:spPr>
            <a:xfrm>
              <a:off x="7462768" y="5348478"/>
              <a:ext cx="1250973" cy="645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pagos à equipe e aos sócios</a:t>
              </a: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8950378" y="5254297"/>
            <a:ext cx="2546222" cy="898665"/>
            <a:chOff x="8950378" y="5212314"/>
            <a:chExt cx="2546222" cy="898665"/>
          </a:xfrm>
        </p:grpSpPr>
        <p:sp>
          <p:nvSpPr>
            <p:cNvPr id="91" name="Rounded Rectangle 40"/>
            <p:cNvSpPr/>
            <p:nvPr/>
          </p:nvSpPr>
          <p:spPr>
            <a:xfrm>
              <a:off x="8950378" y="5236093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89" name="TextBox 45"/>
            <p:cNvSpPr txBox="1"/>
            <p:nvPr/>
          </p:nvSpPr>
          <p:spPr>
            <a:xfrm>
              <a:off x="9048328" y="5471461"/>
              <a:ext cx="12535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0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2 MESES</a:t>
              </a:r>
            </a:p>
          </p:txBody>
        </p:sp>
        <p:sp>
          <p:nvSpPr>
            <p:cNvPr id="90" name="Google Shape;111;p14"/>
            <p:cNvSpPr txBox="1"/>
            <p:nvPr/>
          </p:nvSpPr>
          <p:spPr>
            <a:xfrm>
              <a:off x="9952843" y="5212314"/>
              <a:ext cx="1543757" cy="736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9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gastos totais cobertos se considerar os investimentos e as amortizações </a:t>
              </a:r>
            </a:p>
          </p:txBody>
        </p:sp>
      </p:grpSp>
      <p:grpSp>
        <p:nvGrpSpPr>
          <p:cNvPr id="87" name="Grupo 86"/>
          <p:cNvGrpSpPr/>
          <p:nvPr/>
        </p:nvGrpSpPr>
        <p:grpSpPr>
          <a:xfrm>
            <a:off x="8081209" y="1790342"/>
            <a:ext cx="3372443" cy="1007011"/>
            <a:chOff x="8081209" y="1790342"/>
            <a:chExt cx="3372443" cy="1007011"/>
          </a:xfrm>
        </p:grpSpPr>
        <p:sp>
          <p:nvSpPr>
            <p:cNvPr id="95" name="Rounded Rectangle 6"/>
            <p:cNvSpPr/>
            <p:nvPr/>
          </p:nvSpPr>
          <p:spPr>
            <a:xfrm>
              <a:off x="8081209" y="1790342"/>
              <a:ext cx="3372443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6" name="TextBox 45"/>
            <p:cNvSpPr txBox="1"/>
            <p:nvPr/>
          </p:nvSpPr>
          <p:spPr>
            <a:xfrm>
              <a:off x="8158778" y="1831456"/>
              <a:ext cx="22307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R$ 19.372</a:t>
              </a:r>
            </a:p>
          </p:txBody>
        </p:sp>
        <p:sp>
          <p:nvSpPr>
            <p:cNvPr id="97" name="TextBox 46"/>
            <p:cNvSpPr txBox="1"/>
            <p:nvPr/>
          </p:nvSpPr>
          <p:spPr>
            <a:xfrm>
              <a:off x="8215928" y="2250272"/>
              <a:ext cx="2605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Geração de Caixa</a:t>
              </a:r>
            </a:p>
          </p:txBody>
        </p:sp>
        <p:sp>
          <p:nvSpPr>
            <p:cNvPr id="98" name="Rounded Rectangle 48"/>
            <p:cNvSpPr/>
            <p:nvPr/>
          </p:nvSpPr>
          <p:spPr>
            <a:xfrm>
              <a:off x="8215928" y="2593562"/>
              <a:ext cx="473897" cy="4571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schemeClr val="bg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9" name="Freeform 66"/>
            <p:cNvSpPr/>
            <p:nvPr/>
          </p:nvSpPr>
          <p:spPr>
            <a:xfrm>
              <a:off x="10848528" y="1897282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28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9;p14"/>
          <p:cNvSpPr txBox="1"/>
          <p:nvPr/>
        </p:nvSpPr>
        <p:spPr>
          <a:xfrm>
            <a:off x="640624" y="535577"/>
            <a:ext cx="649499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Visão de Bordo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11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696140" y="1790342"/>
            <a:ext cx="3372443" cy="1007011"/>
            <a:chOff x="696140" y="1790342"/>
            <a:chExt cx="3372443" cy="1007011"/>
          </a:xfrm>
        </p:grpSpPr>
        <p:sp>
          <p:nvSpPr>
            <p:cNvPr id="66" name="Rounded Rectangle 6"/>
            <p:cNvSpPr/>
            <p:nvPr/>
          </p:nvSpPr>
          <p:spPr>
            <a:xfrm>
              <a:off x="696140" y="1790342"/>
              <a:ext cx="3372443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7" name="TextBox 45"/>
            <p:cNvSpPr txBox="1"/>
            <p:nvPr/>
          </p:nvSpPr>
          <p:spPr>
            <a:xfrm>
              <a:off x="777911" y="1879352"/>
              <a:ext cx="26956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R$ 41.688</a:t>
              </a:r>
            </a:p>
          </p:txBody>
        </p:sp>
        <p:sp>
          <p:nvSpPr>
            <p:cNvPr id="58" name="TextBox 46"/>
            <p:cNvSpPr txBox="1"/>
            <p:nvPr/>
          </p:nvSpPr>
          <p:spPr>
            <a:xfrm>
              <a:off x="777911" y="2293848"/>
              <a:ext cx="2605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Receitas totais</a:t>
              </a:r>
            </a:p>
          </p:txBody>
        </p:sp>
        <p:sp>
          <p:nvSpPr>
            <p:cNvPr id="59" name="Rounded Rectangle 48"/>
            <p:cNvSpPr/>
            <p:nvPr/>
          </p:nvSpPr>
          <p:spPr>
            <a:xfrm>
              <a:off x="827180" y="2616422"/>
              <a:ext cx="3060943" cy="48284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schemeClr val="bg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0" name="Freeform 43"/>
            <p:cNvSpPr/>
            <p:nvPr/>
          </p:nvSpPr>
          <p:spPr>
            <a:xfrm>
              <a:off x="3709392" y="1912866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4392827" y="1790342"/>
            <a:ext cx="3372443" cy="1007011"/>
            <a:chOff x="4392827" y="1790342"/>
            <a:chExt cx="3372443" cy="1007011"/>
          </a:xfrm>
        </p:grpSpPr>
        <p:sp>
          <p:nvSpPr>
            <p:cNvPr id="71" name="Rounded Rectangle 6"/>
            <p:cNvSpPr/>
            <p:nvPr/>
          </p:nvSpPr>
          <p:spPr>
            <a:xfrm>
              <a:off x="4392827" y="1790342"/>
              <a:ext cx="3372443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6" name="TextBox 45"/>
            <p:cNvSpPr txBox="1"/>
            <p:nvPr/>
          </p:nvSpPr>
          <p:spPr>
            <a:xfrm>
              <a:off x="4511376" y="1857857"/>
              <a:ext cx="27395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R$ 46.434</a:t>
              </a:r>
            </a:p>
          </p:txBody>
        </p:sp>
        <p:sp>
          <p:nvSpPr>
            <p:cNvPr id="37" name="TextBox 46"/>
            <p:cNvSpPr txBox="1"/>
            <p:nvPr/>
          </p:nvSpPr>
          <p:spPr>
            <a:xfrm>
              <a:off x="4516408" y="2272353"/>
              <a:ext cx="2605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Gastos totais</a:t>
              </a:r>
            </a:p>
          </p:txBody>
        </p:sp>
        <p:sp>
          <p:nvSpPr>
            <p:cNvPr id="38" name="Rounded Rectangle 48"/>
            <p:cNvSpPr/>
            <p:nvPr/>
          </p:nvSpPr>
          <p:spPr>
            <a:xfrm>
              <a:off x="4548576" y="2594927"/>
              <a:ext cx="3047845" cy="53862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schemeClr val="bg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5" name="Freeform 44"/>
            <p:cNvSpPr/>
            <p:nvPr/>
          </p:nvSpPr>
          <p:spPr>
            <a:xfrm>
              <a:off x="7135622" y="194745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709876" y="3127752"/>
            <a:ext cx="2505803" cy="874886"/>
            <a:chOff x="709876" y="3130178"/>
            <a:chExt cx="2505803" cy="874886"/>
          </a:xfrm>
        </p:grpSpPr>
        <p:sp>
          <p:nvSpPr>
            <p:cNvPr id="30" name="Rounded Rectangle 40"/>
            <p:cNvSpPr/>
            <p:nvPr/>
          </p:nvSpPr>
          <p:spPr>
            <a:xfrm>
              <a:off x="709876" y="3130178"/>
              <a:ext cx="2505803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9" name="Freeform 43"/>
            <p:cNvSpPr/>
            <p:nvPr/>
          </p:nvSpPr>
          <p:spPr>
            <a:xfrm>
              <a:off x="2764070" y="3320135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schemeClr val="tx1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1" name="TextBox 45"/>
            <p:cNvSpPr txBox="1"/>
            <p:nvPr/>
          </p:nvSpPr>
          <p:spPr>
            <a:xfrm>
              <a:off x="813911" y="3284984"/>
              <a:ext cx="17059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R$ 39.702</a:t>
              </a:r>
            </a:p>
          </p:txBody>
        </p:sp>
        <p:sp>
          <p:nvSpPr>
            <p:cNvPr id="55" name="TextBox 46"/>
            <p:cNvSpPr txBox="1"/>
            <p:nvPr/>
          </p:nvSpPr>
          <p:spPr>
            <a:xfrm>
              <a:off x="837127" y="3687384"/>
              <a:ext cx="182241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receitas operacionais</a:t>
              </a: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3436588" y="3127752"/>
            <a:ext cx="2808699" cy="875797"/>
            <a:chOff x="3518574" y="3127752"/>
            <a:chExt cx="2808699" cy="875797"/>
          </a:xfrm>
        </p:grpSpPr>
        <p:sp>
          <p:nvSpPr>
            <p:cNvPr id="54" name="Rounded Rectangle 70"/>
            <p:cNvSpPr/>
            <p:nvPr/>
          </p:nvSpPr>
          <p:spPr>
            <a:xfrm>
              <a:off x="3518574" y="3127752"/>
              <a:ext cx="2505803" cy="875797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3575720" y="3284984"/>
              <a:ext cx="12032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94%</a:t>
              </a: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606285" y="3666105"/>
              <a:ext cx="272098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bg1">
                      <a:lumMod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margem de contribuição (MC)</a:t>
              </a:r>
            </a:p>
          </p:txBody>
        </p:sp>
        <p:pic>
          <p:nvPicPr>
            <p:cNvPr id="1026" name="Picture 2" descr="C:\Users\jonatasamorim\Downloads\grafico-de-pizz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6016" y="3284984"/>
              <a:ext cx="353777" cy="353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upo 12"/>
          <p:cNvGrpSpPr/>
          <p:nvPr/>
        </p:nvGrpSpPr>
        <p:grpSpPr>
          <a:xfrm>
            <a:off x="6181204" y="3127752"/>
            <a:ext cx="2505803" cy="862995"/>
            <a:chOff x="6238631" y="3142069"/>
            <a:chExt cx="2505803" cy="862995"/>
          </a:xfrm>
        </p:grpSpPr>
        <p:sp>
          <p:nvSpPr>
            <p:cNvPr id="40" name="Rounded Rectangle 60"/>
            <p:cNvSpPr/>
            <p:nvPr/>
          </p:nvSpPr>
          <p:spPr>
            <a:xfrm>
              <a:off x="6238631" y="3142069"/>
              <a:ext cx="2505803" cy="862995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5" name="TextBox 61"/>
            <p:cNvSpPr txBox="1"/>
            <p:nvPr/>
          </p:nvSpPr>
          <p:spPr>
            <a:xfrm>
              <a:off x="6435462" y="3284984"/>
              <a:ext cx="15360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R$ 37.633</a:t>
              </a:r>
            </a:p>
          </p:txBody>
        </p:sp>
        <p:sp>
          <p:nvSpPr>
            <p:cNvPr id="46" name="TextBox 62"/>
            <p:cNvSpPr txBox="1"/>
            <p:nvPr/>
          </p:nvSpPr>
          <p:spPr>
            <a:xfrm>
              <a:off x="6444576" y="3717032"/>
              <a:ext cx="182241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bg1">
                      <a:lumMod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gastos fixos totais</a:t>
              </a:r>
            </a:p>
          </p:txBody>
        </p:sp>
        <p:sp>
          <p:nvSpPr>
            <p:cNvPr id="81" name="Freeform 44"/>
            <p:cNvSpPr/>
            <p:nvPr/>
          </p:nvSpPr>
          <p:spPr>
            <a:xfrm>
              <a:off x="8148825" y="3289709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8950378" y="3127752"/>
            <a:ext cx="2505803" cy="880852"/>
            <a:chOff x="8950378" y="3135934"/>
            <a:chExt cx="2505803" cy="880852"/>
          </a:xfrm>
        </p:grpSpPr>
        <p:sp>
          <p:nvSpPr>
            <p:cNvPr id="23" name="Rounded Rectangle 6"/>
            <p:cNvSpPr/>
            <p:nvPr/>
          </p:nvSpPr>
          <p:spPr>
            <a:xfrm>
              <a:off x="8950378" y="3135934"/>
              <a:ext cx="2505803" cy="880852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24" name="TextBox 7"/>
            <p:cNvSpPr txBox="1"/>
            <p:nvPr/>
          </p:nvSpPr>
          <p:spPr>
            <a:xfrm>
              <a:off x="9175488" y="3284984"/>
              <a:ext cx="1529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defTabSz="914080">
                <a:defRPr sz="2800">
                  <a:solidFill>
                    <a:schemeClr val="tx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defRPr>
              </a:lvl1pPr>
            </a:lstStyle>
            <a:p>
              <a:r>
                <a:rPr lang="pt-BR" noProof="0" dirty="0"/>
                <a:t>R$ 22.554</a:t>
              </a:r>
            </a:p>
          </p:txBody>
        </p:sp>
        <p:sp>
          <p:nvSpPr>
            <p:cNvPr id="25" name="TextBox 8"/>
            <p:cNvSpPr txBox="1"/>
            <p:nvPr/>
          </p:nvSpPr>
          <p:spPr>
            <a:xfrm>
              <a:off x="9188758" y="3717032"/>
              <a:ext cx="21536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050" noProof="0" dirty="0">
                  <a:solidFill>
                    <a:schemeClr val="bg1">
                      <a:lumMod val="5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de saldo em 31 de Outubro</a:t>
              </a:r>
            </a:p>
          </p:txBody>
        </p:sp>
        <p:pic>
          <p:nvPicPr>
            <p:cNvPr id="1027" name="Picture 3" descr="C:\Users\jonatasamorim\Downloads\wallet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16057" y="3295865"/>
              <a:ext cx="375071" cy="375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upo 3"/>
          <p:cNvGrpSpPr/>
          <p:nvPr/>
        </p:nvGrpSpPr>
        <p:grpSpPr>
          <a:xfrm>
            <a:off x="724674" y="4204127"/>
            <a:ext cx="2503190" cy="874886"/>
            <a:chOff x="709877" y="5261067"/>
            <a:chExt cx="2503190" cy="874886"/>
          </a:xfrm>
        </p:grpSpPr>
        <p:sp>
          <p:nvSpPr>
            <p:cNvPr id="67" name="Rounded Rectangle 40"/>
            <p:cNvSpPr/>
            <p:nvPr/>
          </p:nvSpPr>
          <p:spPr>
            <a:xfrm>
              <a:off x="709877" y="5261067"/>
              <a:ext cx="2503190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3" name="TextBox 45"/>
            <p:cNvSpPr txBox="1"/>
            <p:nvPr/>
          </p:nvSpPr>
          <p:spPr>
            <a:xfrm>
              <a:off x="839416" y="5467677"/>
              <a:ext cx="125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- R$ 299</a:t>
              </a:r>
            </a:p>
          </p:txBody>
        </p:sp>
        <p:sp>
          <p:nvSpPr>
            <p:cNvPr id="50" name="Google Shape;111;p14"/>
            <p:cNvSpPr txBox="1"/>
            <p:nvPr/>
          </p:nvSpPr>
          <p:spPr>
            <a:xfrm>
              <a:off x="1883587" y="5330027"/>
              <a:ext cx="1052914" cy="736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resultado operacional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709876" y="5278076"/>
            <a:ext cx="2503191" cy="874886"/>
            <a:chOff x="709876" y="4195622"/>
            <a:chExt cx="2503191" cy="874886"/>
          </a:xfrm>
        </p:grpSpPr>
        <p:sp>
          <p:nvSpPr>
            <p:cNvPr id="68" name="Rounded Rectangle 40"/>
            <p:cNvSpPr/>
            <p:nvPr/>
          </p:nvSpPr>
          <p:spPr>
            <a:xfrm>
              <a:off x="709876" y="4195622"/>
              <a:ext cx="2503191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9" name="Google Shape;111;p14"/>
            <p:cNvSpPr txBox="1"/>
            <p:nvPr/>
          </p:nvSpPr>
          <p:spPr>
            <a:xfrm>
              <a:off x="1512015" y="4221088"/>
              <a:ext cx="1631657" cy="7467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r>
                <a:rPr lang="pt-BR" noProof="0" dirty="0">
                  <a:sym typeface="Calibri"/>
                </a:rPr>
                <a:t>de aumento das  receitas operacionais </a:t>
              </a:r>
              <a:r>
                <a:rPr lang="pt-BR" sz="800" noProof="0" dirty="0">
                  <a:sym typeface="Calibri"/>
                </a:rPr>
                <a:t>em relação ao mês anterior</a:t>
              </a:r>
            </a:p>
          </p:txBody>
        </p:sp>
        <p:sp>
          <p:nvSpPr>
            <p:cNvPr id="49" name="TextBox 68"/>
            <p:cNvSpPr txBox="1"/>
            <p:nvPr/>
          </p:nvSpPr>
          <p:spPr>
            <a:xfrm>
              <a:off x="983432" y="4429847"/>
              <a:ext cx="855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0070C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10%</a:t>
              </a:r>
            </a:p>
          </p:txBody>
        </p:sp>
        <p:sp>
          <p:nvSpPr>
            <p:cNvPr id="80" name="Isosceles Triangle 174"/>
            <p:cNvSpPr/>
            <p:nvPr/>
          </p:nvSpPr>
          <p:spPr>
            <a:xfrm>
              <a:off x="839416" y="4558724"/>
              <a:ext cx="170758" cy="166420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3436589" y="4204127"/>
            <a:ext cx="2505802" cy="874886"/>
            <a:chOff x="3518575" y="4195622"/>
            <a:chExt cx="2505802" cy="874886"/>
          </a:xfrm>
        </p:grpSpPr>
        <p:sp>
          <p:nvSpPr>
            <p:cNvPr id="69" name="Rounded Rectangle 40"/>
            <p:cNvSpPr/>
            <p:nvPr/>
          </p:nvSpPr>
          <p:spPr>
            <a:xfrm>
              <a:off x="3518575" y="4195622"/>
              <a:ext cx="2505802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76" name="TextBox 68"/>
            <p:cNvSpPr txBox="1"/>
            <p:nvPr/>
          </p:nvSpPr>
          <p:spPr>
            <a:xfrm>
              <a:off x="3606285" y="4402232"/>
              <a:ext cx="1121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-0,8%</a:t>
              </a:r>
            </a:p>
          </p:txBody>
        </p:sp>
        <p:sp>
          <p:nvSpPr>
            <p:cNvPr id="88" name="Google Shape;111;p14"/>
            <p:cNvSpPr txBox="1"/>
            <p:nvPr/>
          </p:nvSpPr>
          <p:spPr>
            <a:xfrm>
              <a:off x="4449794" y="4389111"/>
              <a:ext cx="1466375" cy="556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de Fluxo de Caixa Operacional</a:t>
              </a:r>
              <a:endParaRPr lang="pt-BR" sz="800" noProof="0" dirty="0">
                <a:sym typeface="Calibri"/>
              </a:endParaRPr>
            </a:p>
          </p:txBody>
        </p:sp>
      </p:grpSp>
      <p:sp>
        <p:nvSpPr>
          <p:cNvPr id="19" name="TextBox 43">
            <a:extLst>
              <a:ext uri="{FF2B5EF4-FFF2-40B4-BE49-F238E27FC236}">
                <a16:creationId xmlns:a16="http://schemas.microsoft.com/office/drawing/2014/main" id="{301EA939-E15C-1593-0F6D-A2A9ED3AD2DA}"/>
              </a:ext>
            </a:extLst>
          </p:cNvPr>
          <p:cNvSpPr txBox="1"/>
          <p:nvPr/>
        </p:nvSpPr>
        <p:spPr>
          <a:xfrm>
            <a:off x="8259294" y="759224"/>
            <a:ext cx="3003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80">
              <a:defRPr/>
            </a:pPr>
            <a:r>
              <a:rPr lang="pt-BR" sz="24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rPr>
              <a:t>- R$ 203.414</a:t>
            </a:r>
          </a:p>
        </p:txBody>
      </p:sp>
      <p:grpSp>
        <p:nvGrpSpPr>
          <p:cNvPr id="87" name="Agrupar 27">
            <a:extLst>
              <a:ext uri="{FF2B5EF4-FFF2-40B4-BE49-F238E27FC236}">
                <a16:creationId xmlns:a16="http://schemas.microsoft.com/office/drawing/2014/main" id="{2C4B8C2D-C7BE-6359-D679-736ECF4798E5}"/>
              </a:ext>
            </a:extLst>
          </p:cNvPr>
          <p:cNvGrpSpPr/>
          <p:nvPr/>
        </p:nvGrpSpPr>
        <p:grpSpPr>
          <a:xfrm>
            <a:off x="8086091" y="1795975"/>
            <a:ext cx="3388168" cy="1007011"/>
            <a:chOff x="8086091" y="1795975"/>
            <a:chExt cx="3388168" cy="1007011"/>
          </a:xfrm>
        </p:grpSpPr>
        <p:sp>
          <p:nvSpPr>
            <p:cNvPr id="95" name="Rounded Rectangle 38">
              <a:extLst>
                <a:ext uri="{FF2B5EF4-FFF2-40B4-BE49-F238E27FC236}">
                  <a16:creationId xmlns:a16="http://schemas.microsoft.com/office/drawing/2014/main" id="{C4D2B36B-B748-86F7-3777-61248CACCB86}"/>
                </a:ext>
              </a:extLst>
            </p:cNvPr>
            <p:cNvSpPr/>
            <p:nvPr/>
          </p:nvSpPr>
          <p:spPr>
            <a:xfrm>
              <a:off x="8086091" y="1795975"/>
              <a:ext cx="3388168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26000">
                  <a:srgbClr val="A30A03"/>
                </a:gs>
                <a:gs pos="100000">
                  <a:schemeClr val="accent2">
                    <a:lumMod val="75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outerShdw blurRad="495300" dist="114300" dir="2700000" algn="tl" rotWithShape="0">
                <a:srgbClr val="2E517F">
                  <a:alpha val="8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6" name="TextBox 45"/>
            <p:cNvSpPr txBox="1"/>
            <p:nvPr/>
          </p:nvSpPr>
          <p:spPr>
            <a:xfrm>
              <a:off x="8158778" y="1831456"/>
              <a:ext cx="22307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800" noProof="0" dirty="0">
                  <a:solidFill>
                    <a:srgbClr val="FFFF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- 4.746</a:t>
              </a:r>
            </a:p>
          </p:txBody>
        </p:sp>
        <p:sp>
          <p:nvSpPr>
            <p:cNvPr id="97" name="TextBox 46"/>
            <p:cNvSpPr txBox="1"/>
            <p:nvPr/>
          </p:nvSpPr>
          <p:spPr>
            <a:xfrm>
              <a:off x="8215928" y="2250272"/>
              <a:ext cx="2605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Geração de Caixa</a:t>
              </a:r>
            </a:p>
          </p:txBody>
        </p:sp>
        <p:sp>
          <p:nvSpPr>
            <p:cNvPr id="98" name="Rounded Rectangle 48"/>
            <p:cNvSpPr/>
            <p:nvPr/>
          </p:nvSpPr>
          <p:spPr>
            <a:xfrm>
              <a:off x="8215928" y="2593562"/>
              <a:ext cx="473897" cy="4571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srgbClr val="FF0000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9" name="Freeform 66"/>
            <p:cNvSpPr/>
            <p:nvPr/>
          </p:nvSpPr>
          <p:spPr>
            <a:xfrm>
              <a:off x="10848528" y="1897282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00" name="Grupo 99"/>
          <p:cNvGrpSpPr/>
          <p:nvPr/>
        </p:nvGrpSpPr>
        <p:grpSpPr>
          <a:xfrm>
            <a:off x="3431704" y="5278076"/>
            <a:ext cx="2505802" cy="874886"/>
            <a:chOff x="3513690" y="5263437"/>
            <a:chExt cx="2505802" cy="874886"/>
          </a:xfrm>
        </p:grpSpPr>
        <p:sp>
          <p:nvSpPr>
            <p:cNvPr id="101" name="Rounded Rectangle 40"/>
            <p:cNvSpPr/>
            <p:nvPr/>
          </p:nvSpPr>
          <p:spPr>
            <a:xfrm>
              <a:off x="3513690" y="5263437"/>
              <a:ext cx="2505802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2" name="Google Shape;111;p14"/>
            <p:cNvSpPr txBox="1"/>
            <p:nvPr/>
          </p:nvSpPr>
          <p:spPr>
            <a:xfrm>
              <a:off x="4295800" y="5336276"/>
              <a:ext cx="1723691" cy="774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de aumento nos </a:t>
              </a:r>
            </a:p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gastos totais</a:t>
              </a:r>
            </a:p>
            <a:p>
              <a:pPr>
                <a:spcBef>
                  <a:spcPts val="0"/>
                </a:spcBef>
              </a:pPr>
              <a:r>
                <a:rPr lang="pt-BR" sz="800" noProof="0" dirty="0">
                  <a:sym typeface="Calibri"/>
                </a:rPr>
                <a:t>em relação ao mês anterior</a:t>
              </a:r>
            </a:p>
          </p:txBody>
        </p:sp>
        <p:sp>
          <p:nvSpPr>
            <p:cNvPr id="103" name="TextBox 68"/>
            <p:cNvSpPr txBox="1"/>
            <p:nvPr/>
          </p:nvSpPr>
          <p:spPr>
            <a:xfrm>
              <a:off x="3800562" y="5470047"/>
              <a:ext cx="9224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12%</a:t>
              </a:r>
            </a:p>
          </p:txBody>
        </p:sp>
        <p:sp>
          <p:nvSpPr>
            <p:cNvPr id="104" name="Isosceles Triangle 174"/>
            <p:cNvSpPr/>
            <p:nvPr/>
          </p:nvSpPr>
          <p:spPr>
            <a:xfrm>
              <a:off x="3647728" y="5590055"/>
              <a:ext cx="170758" cy="1664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05" name="Grupo 104"/>
          <p:cNvGrpSpPr/>
          <p:nvPr/>
        </p:nvGrpSpPr>
        <p:grpSpPr>
          <a:xfrm>
            <a:off x="6186035" y="4204127"/>
            <a:ext cx="2646269" cy="874886"/>
            <a:chOff x="3518575" y="4195622"/>
            <a:chExt cx="2646269" cy="874886"/>
          </a:xfrm>
        </p:grpSpPr>
        <p:sp>
          <p:nvSpPr>
            <p:cNvPr id="106" name="Rounded Rectangle 40"/>
            <p:cNvSpPr/>
            <p:nvPr/>
          </p:nvSpPr>
          <p:spPr>
            <a:xfrm>
              <a:off x="3518575" y="4195622"/>
              <a:ext cx="2505802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7" name="TextBox 68"/>
            <p:cNvSpPr txBox="1"/>
            <p:nvPr/>
          </p:nvSpPr>
          <p:spPr>
            <a:xfrm>
              <a:off x="3547433" y="4402232"/>
              <a:ext cx="1249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R$ 39.929</a:t>
              </a:r>
            </a:p>
          </p:txBody>
        </p:sp>
        <p:sp>
          <p:nvSpPr>
            <p:cNvPr id="108" name="Google Shape;111;p14"/>
            <p:cNvSpPr txBox="1"/>
            <p:nvPr/>
          </p:nvSpPr>
          <p:spPr>
            <a:xfrm>
              <a:off x="4579387" y="4284591"/>
              <a:ext cx="1585457" cy="556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spcBef>
                  <a:spcPts val="600"/>
                </a:spcBef>
                <a:defRPr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Ponto de Equilíbrio Financeiro </a:t>
              </a:r>
            </a:p>
            <a:p>
              <a:pPr>
                <a:spcBef>
                  <a:spcPts val="0"/>
                </a:spcBef>
              </a:pPr>
              <a:r>
                <a:rPr lang="pt-BR" noProof="0" dirty="0">
                  <a:sym typeface="Calibri"/>
                </a:rPr>
                <a:t>Operacional (médio)</a:t>
              </a:r>
              <a:endParaRPr lang="pt-BR" sz="800" noProof="0" dirty="0">
                <a:sym typeface="Calibri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8950378" y="4204127"/>
            <a:ext cx="2518999" cy="874886"/>
            <a:chOff x="8950378" y="4208052"/>
            <a:chExt cx="2518999" cy="874886"/>
          </a:xfrm>
        </p:grpSpPr>
        <p:sp>
          <p:nvSpPr>
            <p:cNvPr id="73" name="Rounded Rectangle 40"/>
            <p:cNvSpPr/>
            <p:nvPr/>
          </p:nvSpPr>
          <p:spPr>
            <a:xfrm>
              <a:off x="8950378" y="4208052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85" name="TextBox 45"/>
            <p:cNvSpPr txBox="1"/>
            <p:nvPr/>
          </p:nvSpPr>
          <p:spPr>
            <a:xfrm>
              <a:off x="9048328" y="4414662"/>
              <a:ext cx="125353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0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0.60 Mês</a:t>
              </a:r>
            </a:p>
          </p:txBody>
        </p:sp>
        <p:sp>
          <p:nvSpPr>
            <p:cNvPr id="86" name="Google Shape;111;p14"/>
            <p:cNvSpPr txBox="1"/>
            <p:nvPr/>
          </p:nvSpPr>
          <p:spPr>
            <a:xfrm>
              <a:off x="10002276" y="4221088"/>
              <a:ext cx="1350308" cy="736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gastos fixos cobertos com o saldo existente </a:t>
              </a: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6168008" y="5278076"/>
            <a:ext cx="2518999" cy="874886"/>
            <a:chOff x="6225435" y="5263436"/>
            <a:chExt cx="2518999" cy="874886"/>
          </a:xfrm>
        </p:grpSpPr>
        <p:sp>
          <p:nvSpPr>
            <p:cNvPr id="92" name="Rounded Rectangle 40"/>
            <p:cNvSpPr/>
            <p:nvPr/>
          </p:nvSpPr>
          <p:spPr>
            <a:xfrm>
              <a:off x="6225435" y="5263436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3" name="TextBox 45"/>
            <p:cNvSpPr txBox="1"/>
            <p:nvPr/>
          </p:nvSpPr>
          <p:spPr>
            <a:xfrm>
              <a:off x="6400311" y="5470047"/>
              <a:ext cx="125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R$ 1.219</a:t>
              </a:r>
            </a:p>
          </p:txBody>
        </p:sp>
        <p:sp>
          <p:nvSpPr>
            <p:cNvPr id="94" name="Google Shape;111;p14"/>
            <p:cNvSpPr txBox="1"/>
            <p:nvPr/>
          </p:nvSpPr>
          <p:spPr>
            <a:xfrm>
              <a:off x="7305555" y="5348478"/>
              <a:ext cx="1348134" cy="645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Rendimentos de Aplicações</a:t>
              </a: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8950378" y="5254297"/>
            <a:ext cx="2546222" cy="898665"/>
            <a:chOff x="8950378" y="5212314"/>
            <a:chExt cx="2546222" cy="898665"/>
          </a:xfrm>
        </p:grpSpPr>
        <p:sp>
          <p:nvSpPr>
            <p:cNvPr id="91" name="Rounded Rectangle 40"/>
            <p:cNvSpPr/>
            <p:nvPr/>
          </p:nvSpPr>
          <p:spPr>
            <a:xfrm>
              <a:off x="8950378" y="5236093"/>
              <a:ext cx="2518999" cy="874886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89" name="TextBox 45"/>
            <p:cNvSpPr txBox="1"/>
            <p:nvPr/>
          </p:nvSpPr>
          <p:spPr>
            <a:xfrm>
              <a:off x="9048328" y="5471461"/>
              <a:ext cx="12535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000" noProof="0" dirty="0">
                  <a:solidFill>
                    <a:srgbClr val="C0000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0.48 Mês</a:t>
              </a:r>
            </a:p>
          </p:txBody>
        </p:sp>
        <p:sp>
          <p:nvSpPr>
            <p:cNvPr id="90" name="Google Shape;111;p14"/>
            <p:cNvSpPr txBox="1"/>
            <p:nvPr/>
          </p:nvSpPr>
          <p:spPr>
            <a:xfrm>
              <a:off x="9952843" y="5212314"/>
              <a:ext cx="1543757" cy="736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90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de gastos totais cobertos se considerar os investimentos e as amortizações </a:t>
              </a:r>
            </a:p>
          </p:txBody>
        </p:sp>
      </p:grpSp>
      <p:sp>
        <p:nvSpPr>
          <p:cNvPr id="82" name="Google Shape;112;p14"/>
          <p:cNvSpPr txBox="1"/>
          <p:nvPr/>
        </p:nvSpPr>
        <p:spPr>
          <a:xfrm>
            <a:off x="669200" y="1079158"/>
            <a:ext cx="7232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>
              <a:defRPr sz="1100" spc="300">
                <a:solidFill>
                  <a:srgbClr val="3F3F3F">
                    <a:lumMod val="60000"/>
                    <a:lumOff val="40000"/>
                  </a:srgbClr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spc="0" noProof="0" dirty="0">
                <a:solidFill>
                  <a:srgbClr val="2F5496"/>
                </a:solidFill>
                <a:sym typeface="Calibri"/>
              </a:rPr>
              <a:t>RESULTADO DO MÊS | OUTUBRO 2023</a:t>
            </a:r>
            <a:endParaRPr lang="pt-BR" spc="0" noProof="0" dirty="0">
              <a:solidFill>
                <a:srgbClr val="2F54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667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30"/>
          <p:cNvSpPr/>
          <p:nvPr/>
        </p:nvSpPr>
        <p:spPr>
          <a:xfrm>
            <a:off x="640624" y="1243423"/>
            <a:ext cx="11072000" cy="2373947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2" name="Rounded Rectangle 30"/>
          <p:cNvSpPr/>
          <p:nvPr/>
        </p:nvSpPr>
        <p:spPr>
          <a:xfrm>
            <a:off x="640624" y="3852398"/>
            <a:ext cx="11072000" cy="2267396"/>
          </a:xfrm>
          <a:prstGeom prst="roundRect">
            <a:avLst>
              <a:gd name="adj" fmla="val 6546"/>
            </a:avLst>
          </a:prstGeom>
          <a:solidFill>
            <a:schemeClr val="bg1"/>
          </a:solidFill>
          <a:ln w="3175">
            <a:noFill/>
          </a:ln>
          <a:effectLst>
            <a:outerShdw blurRad="571500" dist="419100" dir="2700000" algn="tl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/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12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sp>
        <p:nvSpPr>
          <p:cNvPr id="10" name="Google Shape;112;p14"/>
          <p:cNvSpPr txBox="1"/>
          <p:nvPr/>
        </p:nvSpPr>
        <p:spPr>
          <a:xfrm>
            <a:off x="5224754" y="1340189"/>
            <a:ext cx="174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914400">
              <a:defRPr sz="1100" spc="0">
                <a:solidFill>
                  <a:srgbClr val="2F5496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sz="1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sym typeface="Calibri"/>
              </a:rPr>
              <a:t>PERFORMANCE 2023</a:t>
            </a:r>
            <a:endParaRPr lang="pt-BR" sz="1800" noProof="0" dirty="0">
              <a:solidFill>
                <a:schemeClr val="tx1">
                  <a:lumMod val="75000"/>
                  <a:lumOff val="2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3" name="Google Shape;109;p14"/>
          <p:cNvSpPr txBox="1"/>
          <p:nvPr/>
        </p:nvSpPr>
        <p:spPr>
          <a:xfrm>
            <a:off x="640624" y="535577"/>
            <a:ext cx="649499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noProof="0" dirty="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  <a:sym typeface="Calibri"/>
              </a:rPr>
              <a:t>PAINEL DE VENDAS</a:t>
            </a:r>
            <a:endParaRPr lang="pt-BR" sz="1600" noProof="0" dirty="0">
              <a:latin typeface="Bebas Neue" panose="020B0606020202050201" pitchFamily="34" charset="0"/>
              <a:cs typeface="Roboto"/>
            </a:endParaRPr>
          </a:p>
        </p:txBody>
      </p:sp>
      <p:sp>
        <p:nvSpPr>
          <p:cNvPr id="14" name="Google Shape;112;p14"/>
          <p:cNvSpPr txBox="1"/>
          <p:nvPr/>
        </p:nvSpPr>
        <p:spPr>
          <a:xfrm>
            <a:off x="5397907" y="3990060"/>
            <a:ext cx="174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914400">
              <a:defRPr sz="1800" spc="0">
                <a:solidFill>
                  <a:srgbClr val="2F5496"/>
                </a:solidFill>
                <a:latin typeface="Bebas Neue" panose="020B0606020202050201" pitchFamily="34" charset="0"/>
              </a:defRPr>
            </a:lvl1pPr>
          </a:lstStyle>
          <a:p>
            <a:r>
              <a:rPr lang="pt-BR" noProof="0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2022 VS 2023</a:t>
            </a:r>
            <a:endParaRPr lang="pt-BR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1" name="Chart 45"/>
          <p:cNvGraphicFramePr/>
          <p:nvPr>
            <p:extLst>
              <p:ext uri="{D42A27DB-BD31-4B8C-83A1-F6EECF244321}">
                <p14:modId xmlns:p14="http://schemas.microsoft.com/office/powerpoint/2010/main" val="3453400977"/>
              </p:ext>
            </p:extLst>
          </p:nvPr>
        </p:nvGraphicFramePr>
        <p:xfrm>
          <a:off x="640624" y="1645851"/>
          <a:ext cx="10729267" cy="1855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45"/>
          <p:cNvGraphicFramePr/>
          <p:nvPr>
            <p:extLst>
              <p:ext uri="{D42A27DB-BD31-4B8C-83A1-F6EECF244321}">
                <p14:modId xmlns:p14="http://schemas.microsoft.com/office/powerpoint/2010/main" val="833995071"/>
              </p:ext>
            </p:extLst>
          </p:nvPr>
        </p:nvGraphicFramePr>
        <p:xfrm>
          <a:off x="1415480" y="4325216"/>
          <a:ext cx="8976321" cy="1696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2645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/>
        </p:nvSpPr>
        <p:spPr>
          <a:xfrm>
            <a:off x="640625" y="535577"/>
            <a:ext cx="69507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400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</a:defRPr>
            </a:lvl1pPr>
          </a:lstStyle>
          <a:p>
            <a:r>
              <a:rPr lang="pt-BR" noProof="0" dirty="0">
                <a:sym typeface="Calibri"/>
              </a:rPr>
              <a:t>Oxímetro Gerencial</a:t>
            </a:r>
            <a:endParaRPr lang="pt-BR" noProof="0" dirty="0"/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13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69200" y="1124758"/>
            <a:ext cx="8955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914400">
              <a:defRPr sz="1100" spc="0">
                <a:solidFill>
                  <a:srgbClr val="2F5496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noProof="0" dirty="0">
                <a:sym typeface="Calibri"/>
              </a:rPr>
              <a:t>PROJEÇÃO RESULTADO APÓS OS PRÓXIMOS 12 MESES | PERSPECTIVA DAS VENDAS</a:t>
            </a:r>
            <a:endParaRPr lang="pt-BR" noProof="0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6439D4F-825D-3A2F-0CD0-C9ECE5073997}"/>
              </a:ext>
            </a:extLst>
          </p:cNvPr>
          <p:cNvGrpSpPr/>
          <p:nvPr/>
        </p:nvGrpSpPr>
        <p:grpSpPr>
          <a:xfrm>
            <a:off x="3457033" y="1946931"/>
            <a:ext cx="2362552" cy="1007011"/>
            <a:chOff x="3462695" y="1948146"/>
            <a:chExt cx="2362552" cy="1007011"/>
          </a:xfrm>
        </p:grpSpPr>
        <p:sp>
          <p:nvSpPr>
            <p:cNvPr id="43" name="Rounded Rectangle 6"/>
            <p:cNvSpPr/>
            <p:nvPr/>
          </p:nvSpPr>
          <p:spPr>
            <a:xfrm>
              <a:off x="3462695" y="1948146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60536" y="2435932"/>
              <a:ext cx="211629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Vendas últimos </a:t>
              </a:r>
            </a:p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12 meses (LTM)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60537" y="2029849"/>
              <a:ext cx="1550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R$ 1.668.440</a:t>
              </a:r>
            </a:p>
          </p:txBody>
        </p:sp>
        <p:sp>
          <p:nvSpPr>
            <p:cNvPr id="65" name="Freeform 32"/>
            <p:cNvSpPr/>
            <p:nvPr/>
          </p:nvSpPr>
          <p:spPr>
            <a:xfrm>
              <a:off x="5212471" y="2075532"/>
              <a:ext cx="425774" cy="344059"/>
            </a:xfrm>
            <a:custGeom>
              <a:avLst/>
              <a:gdLst/>
              <a:ahLst/>
              <a:cxnLst/>
              <a:rect l="l" t="t" r="r" b="b"/>
              <a:pathLst>
                <a:path w="176808" h="142875">
                  <a:moveTo>
                    <a:pt x="135732" y="114300"/>
                  </a:moveTo>
                  <a:cubicBezTo>
                    <a:pt x="130969" y="114300"/>
                    <a:pt x="128588" y="116682"/>
                    <a:pt x="128588" y="121444"/>
                  </a:cubicBezTo>
                  <a:cubicBezTo>
                    <a:pt x="128588" y="126207"/>
                    <a:pt x="130969" y="128588"/>
                    <a:pt x="135732" y="128588"/>
                  </a:cubicBezTo>
                  <a:cubicBezTo>
                    <a:pt x="140494" y="128588"/>
                    <a:pt x="142875" y="126207"/>
                    <a:pt x="142875" y="121444"/>
                  </a:cubicBezTo>
                  <a:cubicBezTo>
                    <a:pt x="142875" y="116682"/>
                    <a:pt x="140494" y="114300"/>
                    <a:pt x="135732" y="114300"/>
                  </a:cubicBezTo>
                  <a:close/>
                  <a:moveTo>
                    <a:pt x="71438" y="114300"/>
                  </a:moveTo>
                  <a:cubicBezTo>
                    <a:pt x="66675" y="114300"/>
                    <a:pt x="64294" y="116682"/>
                    <a:pt x="64294" y="121444"/>
                  </a:cubicBezTo>
                  <a:cubicBezTo>
                    <a:pt x="64294" y="126207"/>
                    <a:pt x="66675" y="128588"/>
                    <a:pt x="71438" y="128588"/>
                  </a:cubicBezTo>
                  <a:cubicBezTo>
                    <a:pt x="76200" y="128588"/>
                    <a:pt x="78582" y="126207"/>
                    <a:pt x="78582" y="121444"/>
                  </a:cubicBezTo>
                  <a:cubicBezTo>
                    <a:pt x="78582" y="116682"/>
                    <a:pt x="76200" y="114300"/>
                    <a:pt x="71438" y="114300"/>
                  </a:cubicBezTo>
                  <a:close/>
                  <a:moveTo>
                    <a:pt x="135732" y="100013"/>
                  </a:moveTo>
                  <a:cubicBezTo>
                    <a:pt x="141685" y="100013"/>
                    <a:pt x="146745" y="102096"/>
                    <a:pt x="150912" y="106264"/>
                  </a:cubicBezTo>
                  <a:cubicBezTo>
                    <a:pt x="155079" y="110431"/>
                    <a:pt x="157163" y="115491"/>
                    <a:pt x="157163" y="121444"/>
                  </a:cubicBezTo>
                  <a:cubicBezTo>
                    <a:pt x="157163" y="127397"/>
                    <a:pt x="155079" y="132457"/>
                    <a:pt x="150912" y="136625"/>
                  </a:cubicBezTo>
                  <a:cubicBezTo>
                    <a:pt x="146745" y="140792"/>
                    <a:pt x="141685" y="142875"/>
                    <a:pt x="135732" y="142875"/>
                  </a:cubicBezTo>
                  <a:cubicBezTo>
                    <a:pt x="129779" y="142875"/>
                    <a:pt x="124718" y="140792"/>
                    <a:pt x="120551" y="136625"/>
                  </a:cubicBezTo>
                  <a:cubicBezTo>
                    <a:pt x="116384" y="132457"/>
                    <a:pt x="114300" y="127397"/>
                    <a:pt x="114300" y="121444"/>
                  </a:cubicBezTo>
                  <a:cubicBezTo>
                    <a:pt x="114300" y="115491"/>
                    <a:pt x="116384" y="110431"/>
                    <a:pt x="120551" y="106264"/>
                  </a:cubicBezTo>
                  <a:cubicBezTo>
                    <a:pt x="124718" y="102096"/>
                    <a:pt x="129779" y="100013"/>
                    <a:pt x="135732" y="100013"/>
                  </a:cubicBezTo>
                  <a:close/>
                  <a:moveTo>
                    <a:pt x="71438" y="100013"/>
                  </a:moveTo>
                  <a:cubicBezTo>
                    <a:pt x="77391" y="100013"/>
                    <a:pt x="82451" y="102096"/>
                    <a:pt x="86618" y="106264"/>
                  </a:cubicBezTo>
                  <a:cubicBezTo>
                    <a:pt x="90786" y="110431"/>
                    <a:pt x="92869" y="115491"/>
                    <a:pt x="92869" y="121444"/>
                  </a:cubicBezTo>
                  <a:cubicBezTo>
                    <a:pt x="92869" y="127397"/>
                    <a:pt x="90786" y="132457"/>
                    <a:pt x="86618" y="136625"/>
                  </a:cubicBezTo>
                  <a:cubicBezTo>
                    <a:pt x="82451" y="140792"/>
                    <a:pt x="77391" y="142875"/>
                    <a:pt x="71438" y="142875"/>
                  </a:cubicBezTo>
                  <a:cubicBezTo>
                    <a:pt x="65485" y="142875"/>
                    <a:pt x="60425" y="140792"/>
                    <a:pt x="56257" y="136625"/>
                  </a:cubicBezTo>
                  <a:cubicBezTo>
                    <a:pt x="52090" y="132457"/>
                    <a:pt x="50007" y="127397"/>
                    <a:pt x="50007" y="121444"/>
                  </a:cubicBezTo>
                  <a:cubicBezTo>
                    <a:pt x="50007" y="115491"/>
                    <a:pt x="52090" y="110431"/>
                    <a:pt x="56257" y="106264"/>
                  </a:cubicBezTo>
                  <a:cubicBezTo>
                    <a:pt x="60425" y="102096"/>
                    <a:pt x="65485" y="100013"/>
                    <a:pt x="71438" y="100013"/>
                  </a:cubicBezTo>
                  <a:close/>
                  <a:moveTo>
                    <a:pt x="92869" y="0"/>
                  </a:moveTo>
                  <a:lnTo>
                    <a:pt x="107157" y="0"/>
                  </a:lnTo>
                  <a:lnTo>
                    <a:pt x="107157" y="35719"/>
                  </a:lnTo>
                  <a:lnTo>
                    <a:pt x="128588" y="35719"/>
                  </a:lnTo>
                  <a:lnTo>
                    <a:pt x="100013" y="64294"/>
                  </a:lnTo>
                  <a:lnTo>
                    <a:pt x="71438" y="35719"/>
                  </a:lnTo>
                  <a:lnTo>
                    <a:pt x="92869" y="35719"/>
                  </a:lnTo>
                  <a:close/>
                  <a:moveTo>
                    <a:pt x="7144" y="0"/>
                  </a:moveTo>
                  <a:lnTo>
                    <a:pt x="23218" y="0"/>
                  </a:lnTo>
                  <a:cubicBezTo>
                    <a:pt x="26492" y="0"/>
                    <a:pt x="29394" y="968"/>
                    <a:pt x="31924" y="2903"/>
                  </a:cubicBezTo>
                  <a:cubicBezTo>
                    <a:pt x="34454" y="4837"/>
                    <a:pt x="36017" y="7442"/>
                    <a:pt x="36612" y="10716"/>
                  </a:cubicBezTo>
                  <a:lnTo>
                    <a:pt x="55364" y="85725"/>
                  </a:lnTo>
                  <a:lnTo>
                    <a:pt x="144661" y="85725"/>
                  </a:lnTo>
                  <a:lnTo>
                    <a:pt x="161628" y="21432"/>
                  </a:lnTo>
                  <a:lnTo>
                    <a:pt x="176808" y="21432"/>
                  </a:lnTo>
                  <a:lnTo>
                    <a:pt x="158056" y="89297"/>
                  </a:lnTo>
                  <a:cubicBezTo>
                    <a:pt x="157461" y="92571"/>
                    <a:pt x="155898" y="95176"/>
                    <a:pt x="153368" y="97111"/>
                  </a:cubicBezTo>
                  <a:cubicBezTo>
                    <a:pt x="150838" y="99045"/>
                    <a:pt x="147936" y="100013"/>
                    <a:pt x="144661" y="100013"/>
                  </a:cubicBezTo>
                  <a:lnTo>
                    <a:pt x="135732" y="100013"/>
                  </a:lnTo>
                  <a:lnTo>
                    <a:pt x="71438" y="100013"/>
                  </a:lnTo>
                  <a:lnTo>
                    <a:pt x="55364" y="100013"/>
                  </a:lnTo>
                  <a:cubicBezTo>
                    <a:pt x="52090" y="100013"/>
                    <a:pt x="49188" y="99045"/>
                    <a:pt x="46658" y="97111"/>
                  </a:cubicBezTo>
                  <a:cubicBezTo>
                    <a:pt x="44128" y="95176"/>
                    <a:pt x="42565" y="92571"/>
                    <a:pt x="41970" y="89297"/>
                  </a:cubicBezTo>
                  <a:lnTo>
                    <a:pt x="23218" y="14288"/>
                  </a:lnTo>
                  <a:lnTo>
                    <a:pt x="7144" y="14288"/>
                  </a:lnTo>
                  <a:cubicBezTo>
                    <a:pt x="5061" y="14288"/>
                    <a:pt x="3349" y="13618"/>
                    <a:pt x="2010" y="12279"/>
                  </a:cubicBezTo>
                  <a:cubicBezTo>
                    <a:pt x="670" y="10939"/>
                    <a:pt x="0" y="9228"/>
                    <a:pt x="0" y="7144"/>
                  </a:cubicBezTo>
                  <a:cubicBezTo>
                    <a:pt x="0" y="5061"/>
                    <a:pt x="670" y="3349"/>
                    <a:pt x="2010" y="2010"/>
                  </a:cubicBezTo>
                  <a:cubicBezTo>
                    <a:pt x="3349" y="670"/>
                    <a:pt x="5061" y="0"/>
                    <a:pt x="71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A2ABB83-B462-346A-5A36-8D38D542A55F}"/>
              </a:ext>
            </a:extLst>
          </p:cNvPr>
          <p:cNvGrpSpPr/>
          <p:nvPr/>
        </p:nvGrpSpPr>
        <p:grpSpPr>
          <a:xfrm>
            <a:off x="6301625" y="1955879"/>
            <a:ext cx="2362552" cy="1007011"/>
            <a:chOff x="6307287" y="1957094"/>
            <a:chExt cx="2362552" cy="1007011"/>
          </a:xfrm>
        </p:grpSpPr>
        <p:sp>
          <p:nvSpPr>
            <p:cNvPr id="70" name="Rounded Rectangle 6"/>
            <p:cNvSpPr/>
            <p:nvPr/>
          </p:nvSpPr>
          <p:spPr>
            <a:xfrm>
              <a:off x="6307287" y="1957094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89694" y="2436527"/>
              <a:ext cx="200643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Margem de contribuição (MC) projetada</a:t>
              </a:r>
            </a:p>
          </p:txBody>
        </p:sp>
        <p:sp>
          <p:nvSpPr>
            <p:cNvPr id="66" name="TextBox 35"/>
            <p:cNvSpPr txBox="1"/>
            <p:nvPr/>
          </p:nvSpPr>
          <p:spPr>
            <a:xfrm>
              <a:off x="6389694" y="2037406"/>
              <a:ext cx="2077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86.90% </a:t>
              </a:r>
              <a:r>
                <a:rPr lang="pt-BR" sz="16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(R$ 1.449.875)</a:t>
              </a:r>
              <a:endParaRPr lang="pt-BR" sz="24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endParaRPr>
            </a:p>
          </p:txBody>
        </p:sp>
        <p:sp>
          <p:nvSpPr>
            <p:cNvPr id="67" name="Freeform 43"/>
            <p:cNvSpPr/>
            <p:nvPr/>
          </p:nvSpPr>
          <p:spPr>
            <a:xfrm>
              <a:off x="8288170" y="2083089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9095633" y="1955879"/>
            <a:ext cx="2362552" cy="1007011"/>
            <a:chOff x="6382143" y="1849492"/>
            <a:chExt cx="2362552" cy="1007011"/>
          </a:xfrm>
        </p:grpSpPr>
        <p:sp>
          <p:nvSpPr>
            <p:cNvPr id="73" name="Rounded Rectangle 6"/>
            <p:cNvSpPr/>
            <p:nvPr/>
          </p:nvSpPr>
          <p:spPr>
            <a:xfrm>
              <a:off x="6382143" y="1849492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28048" y="1940351"/>
              <a:ext cx="15550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R$ 1.150.337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65495" y="2346434"/>
              <a:ext cx="21415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Gastos fixos operacionais (GFO) projetados</a:t>
              </a:r>
            </a:p>
          </p:txBody>
        </p:sp>
        <p:sp>
          <p:nvSpPr>
            <p:cNvPr id="71" name="Freeform 44"/>
            <p:cNvSpPr/>
            <p:nvPr/>
          </p:nvSpPr>
          <p:spPr>
            <a:xfrm>
              <a:off x="8184232" y="194745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6538B04-8FA4-D596-CF40-88D0C48BEC6D}"/>
              </a:ext>
            </a:extLst>
          </p:cNvPr>
          <p:cNvGrpSpPr/>
          <p:nvPr/>
        </p:nvGrpSpPr>
        <p:grpSpPr>
          <a:xfrm>
            <a:off x="3468480" y="3284984"/>
            <a:ext cx="2362552" cy="1007011"/>
            <a:chOff x="3468480" y="3078432"/>
            <a:chExt cx="2362552" cy="1007011"/>
          </a:xfrm>
        </p:grpSpPr>
        <p:sp>
          <p:nvSpPr>
            <p:cNvPr id="62" name="Rounded Rectangle 38"/>
            <p:cNvSpPr/>
            <p:nvPr/>
          </p:nvSpPr>
          <p:spPr>
            <a:xfrm>
              <a:off x="3468480" y="3078432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592658" y="3165308"/>
              <a:ext cx="1657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R$ 299.498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81646" y="3571391"/>
              <a:ext cx="21117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Resultado operacional (RO) estimado</a:t>
              </a:r>
            </a:p>
          </p:txBody>
        </p:sp>
        <p:sp>
          <p:nvSpPr>
            <p:cNvPr id="72" name="Freeform 66"/>
            <p:cNvSpPr/>
            <p:nvPr/>
          </p:nvSpPr>
          <p:spPr>
            <a:xfrm>
              <a:off x="5250170" y="3180814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6318557" y="3299832"/>
            <a:ext cx="2362552" cy="1007011"/>
            <a:chOff x="6411463" y="3280628"/>
            <a:chExt cx="2362552" cy="1007011"/>
          </a:xfrm>
        </p:grpSpPr>
        <p:sp>
          <p:nvSpPr>
            <p:cNvPr id="75" name="Rounded Rectangle 6"/>
            <p:cNvSpPr/>
            <p:nvPr/>
          </p:nvSpPr>
          <p:spPr>
            <a:xfrm>
              <a:off x="6411463" y="3280628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0" name="TextBox 19"/>
            <p:cNvSpPr txBox="1"/>
            <p:nvPr/>
          </p:nvSpPr>
          <p:spPr>
            <a:xfrm>
              <a:off x="6528048" y="3355485"/>
              <a:ext cx="20790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R$ 184.770</a:t>
              </a:r>
            </a:p>
            <a:p>
              <a:pPr defTabSz="914080">
                <a:defRPr/>
              </a:pPr>
              <a:endParaRPr lang="pt-BR" sz="2400" noProof="0" dirty="0">
                <a:solidFill>
                  <a:srgbClr val="C00000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endParaRPr>
            </a:p>
          </p:txBody>
        </p:sp>
        <p:sp>
          <p:nvSpPr>
            <p:cNvPr id="51" name="TextBox 20"/>
            <p:cNvSpPr txBox="1"/>
            <p:nvPr/>
          </p:nvSpPr>
          <p:spPr>
            <a:xfrm>
              <a:off x="6528048" y="3761568"/>
              <a:ext cx="22250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Investimentos (INV) e Financiamentos (FIN)</a:t>
              </a:r>
            </a:p>
          </p:txBody>
        </p:sp>
        <p:sp>
          <p:nvSpPr>
            <p:cNvPr id="76" name="Freeform 44"/>
            <p:cNvSpPr/>
            <p:nvPr/>
          </p:nvSpPr>
          <p:spPr>
            <a:xfrm>
              <a:off x="8211228" y="336632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9106520" y="3309409"/>
            <a:ext cx="2362552" cy="1007011"/>
            <a:chOff x="9134123" y="3291175"/>
            <a:chExt cx="2362552" cy="1007011"/>
          </a:xfrm>
        </p:grpSpPr>
        <p:sp>
          <p:nvSpPr>
            <p:cNvPr id="74" name="Rounded Rectangle 38"/>
            <p:cNvSpPr/>
            <p:nvPr/>
          </p:nvSpPr>
          <p:spPr>
            <a:xfrm>
              <a:off x="9134123" y="3291175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rgbClr val="3761AC">
                    <a:shade val="30000"/>
                    <a:satMod val="115000"/>
                  </a:srgbClr>
                </a:gs>
                <a:gs pos="50000">
                  <a:srgbClr val="3761AC">
                    <a:shade val="67500"/>
                    <a:satMod val="115000"/>
                  </a:srgbClr>
                </a:gs>
                <a:gs pos="100000">
                  <a:srgbClr val="3761AC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495300" dist="114300" dir="2700000" algn="tl" rotWithShape="0">
                <a:srgbClr val="2E517F">
                  <a:alpha val="8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6" name="TextBox 43"/>
            <p:cNvSpPr txBox="1"/>
            <p:nvPr/>
          </p:nvSpPr>
          <p:spPr>
            <a:xfrm>
              <a:off x="9258301" y="3360009"/>
              <a:ext cx="20942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R$ 114.728</a:t>
              </a:r>
            </a:p>
          </p:txBody>
        </p:sp>
        <p:sp>
          <p:nvSpPr>
            <p:cNvPr id="57" name="TextBox 44"/>
            <p:cNvSpPr txBox="1"/>
            <p:nvPr/>
          </p:nvSpPr>
          <p:spPr>
            <a:xfrm>
              <a:off x="9247289" y="3766092"/>
              <a:ext cx="21052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Resultado financeiro estimado após INV e FIN</a:t>
              </a:r>
            </a:p>
          </p:txBody>
        </p:sp>
        <p:sp>
          <p:nvSpPr>
            <p:cNvPr id="77" name="Freeform 66"/>
            <p:cNvSpPr/>
            <p:nvPr/>
          </p:nvSpPr>
          <p:spPr>
            <a:xfrm>
              <a:off x="10942809" y="3381291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49" name="Group 2"/>
          <p:cNvGrpSpPr/>
          <p:nvPr/>
        </p:nvGrpSpPr>
        <p:grpSpPr>
          <a:xfrm>
            <a:off x="752098" y="1938867"/>
            <a:ext cx="2374862" cy="3794375"/>
            <a:chOff x="15914251" y="4562957"/>
            <a:chExt cx="7791282" cy="8275719"/>
          </a:xfrm>
        </p:grpSpPr>
        <p:sp>
          <p:nvSpPr>
            <p:cNvPr id="53" name="Rounded Rectangle 261"/>
            <p:cNvSpPr/>
            <p:nvPr/>
          </p:nvSpPr>
          <p:spPr>
            <a:xfrm>
              <a:off x="15914251" y="4562957"/>
              <a:ext cx="7791282" cy="8275719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723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grpSp>
          <p:nvGrpSpPr>
            <p:cNvPr id="55" name="Group 6"/>
            <p:cNvGrpSpPr/>
            <p:nvPr/>
          </p:nvGrpSpPr>
          <p:grpSpPr>
            <a:xfrm>
              <a:off x="16730888" y="5328136"/>
              <a:ext cx="6117367" cy="6043738"/>
              <a:chOff x="13328202" y="3933060"/>
              <a:chExt cx="8820150" cy="8713986"/>
            </a:xfrm>
          </p:grpSpPr>
          <p:grpSp>
            <p:nvGrpSpPr>
              <p:cNvPr id="69" name="Group 264"/>
              <p:cNvGrpSpPr/>
              <p:nvPr/>
            </p:nvGrpSpPr>
            <p:grpSpPr>
              <a:xfrm>
                <a:off x="15288707" y="10360645"/>
                <a:ext cx="4849607" cy="2286401"/>
                <a:chOff x="4568125" y="1485900"/>
                <a:chExt cx="9035204" cy="4259751"/>
              </a:xfrm>
              <a:effectLst>
                <a:outerShdw blurRad="508000" dist="152400" dir="5400000" algn="t" rotWithShape="0">
                  <a:prstClr val="black">
                    <a:alpha val="31000"/>
                  </a:prstClr>
                </a:outerShdw>
              </a:effectLst>
            </p:grpSpPr>
            <p:sp>
              <p:nvSpPr>
                <p:cNvPr id="90" name="Freeform 335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91" name="Freeform 336"/>
                <p:cNvSpPr/>
                <p:nvPr/>
              </p:nvSpPr>
              <p:spPr>
                <a:xfrm>
                  <a:off x="4568125" y="2973871"/>
                  <a:ext cx="9035204" cy="2771780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rgbClr val="7F9D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92" name="Donut 337"/>
                <p:cNvSpPr/>
                <p:nvPr/>
              </p:nvSpPr>
              <p:spPr>
                <a:xfrm>
                  <a:off x="4568125" y="1485900"/>
                  <a:ext cx="9035204" cy="3105152"/>
                </a:xfrm>
                <a:prstGeom prst="donut">
                  <a:avLst>
                    <a:gd name="adj" fmla="val 18071"/>
                  </a:avLst>
                </a:prstGeom>
                <a:solidFill>
                  <a:srgbClr val="95A8C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78" name="Group 339"/>
              <p:cNvGrpSpPr/>
              <p:nvPr/>
            </p:nvGrpSpPr>
            <p:grpSpPr>
              <a:xfrm>
                <a:off x="14552361" y="8427751"/>
                <a:ext cx="6379119" cy="3050224"/>
                <a:chOff x="4599551" y="1485900"/>
                <a:chExt cx="9003943" cy="4305300"/>
              </a:xfrm>
              <a:effectLst>
                <a:outerShdw blurRad="431800" dist="76200" dir="5400000" algn="t" rotWithShape="0">
                  <a:prstClr val="black">
                    <a:alpha val="25000"/>
                  </a:prstClr>
                </a:outerShdw>
              </a:effectLst>
            </p:grpSpPr>
            <p:sp>
              <p:nvSpPr>
                <p:cNvPr id="87" name="Freeform 352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8" name="Freeform 353"/>
                <p:cNvSpPr/>
                <p:nvPr/>
              </p:nvSpPr>
              <p:spPr>
                <a:xfrm>
                  <a:off x="4599551" y="3019422"/>
                  <a:ext cx="9003943" cy="2771778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9" name="Donut 354"/>
                <p:cNvSpPr/>
                <p:nvPr/>
              </p:nvSpPr>
              <p:spPr>
                <a:xfrm>
                  <a:off x="4599551" y="1485900"/>
                  <a:ext cx="9003943" cy="3105150"/>
                </a:xfrm>
                <a:prstGeom prst="donut">
                  <a:avLst>
                    <a:gd name="adj" fmla="val 17273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79" name="Group 356"/>
              <p:cNvGrpSpPr/>
              <p:nvPr/>
            </p:nvGrpSpPr>
            <p:grpSpPr>
              <a:xfrm>
                <a:off x="14109252" y="6409560"/>
                <a:ext cx="7259061" cy="3543300"/>
                <a:chOff x="4686300" y="1485900"/>
                <a:chExt cx="8820150" cy="4305300"/>
              </a:xfrm>
              <a:effectLst>
                <a:outerShdw blurRad="444500" dist="114300" dir="5400000" algn="t" rotWithShape="0">
                  <a:prstClr val="black">
                    <a:alpha val="31000"/>
                  </a:prstClr>
                </a:outerShdw>
              </a:effectLst>
            </p:grpSpPr>
            <p:sp>
              <p:nvSpPr>
                <p:cNvPr id="84" name="Freeform 369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5" name="Freeform 370"/>
                <p:cNvSpPr/>
                <p:nvPr/>
              </p:nvSpPr>
              <p:spPr>
                <a:xfrm>
                  <a:off x="4686300" y="3019428"/>
                  <a:ext cx="8820144" cy="2771772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6" name="Donut 371"/>
                <p:cNvSpPr/>
                <p:nvPr/>
              </p:nvSpPr>
              <p:spPr>
                <a:xfrm>
                  <a:off x="4686300" y="1485900"/>
                  <a:ext cx="8820150" cy="3105150"/>
                </a:xfrm>
                <a:prstGeom prst="donut">
                  <a:avLst>
                    <a:gd name="adj" fmla="val 16469"/>
                  </a:avLst>
                </a:prstGeom>
                <a:solidFill>
                  <a:srgbClr val="4371C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80" name="Group 373"/>
              <p:cNvGrpSpPr/>
              <p:nvPr/>
            </p:nvGrpSpPr>
            <p:grpSpPr>
              <a:xfrm>
                <a:off x="13328202" y="3933060"/>
                <a:ext cx="8820150" cy="4305300"/>
                <a:chOff x="4686300" y="1485900"/>
                <a:chExt cx="8820150" cy="4305300"/>
              </a:xfrm>
              <a:effectLst>
                <a:outerShdw blurRad="330200" dist="114300" dir="5400000" algn="t" rotWithShape="0">
                  <a:prstClr val="black">
                    <a:alpha val="28000"/>
                  </a:prstClr>
                </a:outerShdw>
              </a:effectLst>
            </p:grpSpPr>
            <p:sp>
              <p:nvSpPr>
                <p:cNvPr id="81" name="Freeform 386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2" name="Freeform 387"/>
                <p:cNvSpPr/>
                <p:nvPr/>
              </p:nvSpPr>
              <p:spPr>
                <a:xfrm>
                  <a:off x="4686300" y="3019423"/>
                  <a:ext cx="8820150" cy="2771777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3" name="Donut 388"/>
                <p:cNvSpPr/>
                <p:nvPr/>
              </p:nvSpPr>
              <p:spPr>
                <a:xfrm>
                  <a:off x="4686300" y="1485900"/>
                  <a:ext cx="8820150" cy="3105150"/>
                </a:xfrm>
                <a:prstGeom prst="donut">
                  <a:avLst>
                    <a:gd name="adj" fmla="val 11260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</p:grpSp>
        <p:sp>
          <p:nvSpPr>
            <p:cNvPr id="61" name="TextBox 389"/>
            <p:cNvSpPr txBox="1"/>
            <p:nvPr/>
          </p:nvSpPr>
          <p:spPr>
            <a:xfrm>
              <a:off x="17448672" y="7548380"/>
              <a:ext cx="4681789" cy="553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828526">
                <a:defRPr/>
              </a:pPr>
              <a:r>
                <a:rPr lang="pt-BR" sz="1050" noProof="0" dirty="0">
                  <a:solidFill>
                    <a:prstClr val="white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VENDAS LTM</a:t>
              </a:r>
            </a:p>
          </p:txBody>
        </p:sp>
      </p:grpSp>
      <p:sp>
        <p:nvSpPr>
          <p:cNvPr id="93" name="TextBox 389"/>
          <p:cNvSpPr txBox="1"/>
          <p:nvPr/>
        </p:nvSpPr>
        <p:spPr>
          <a:xfrm>
            <a:off x="1283798" y="3919600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MC</a:t>
            </a:r>
          </a:p>
        </p:txBody>
      </p:sp>
      <p:sp>
        <p:nvSpPr>
          <p:cNvPr id="94" name="TextBox 389"/>
          <p:cNvSpPr txBox="1"/>
          <p:nvPr/>
        </p:nvSpPr>
        <p:spPr>
          <a:xfrm>
            <a:off x="1283798" y="4394426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GFO</a:t>
            </a:r>
          </a:p>
        </p:txBody>
      </p:sp>
      <p:sp>
        <p:nvSpPr>
          <p:cNvPr id="95" name="TextBox 389"/>
          <p:cNvSpPr txBox="1"/>
          <p:nvPr/>
        </p:nvSpPr>
        <p:spPr>
          <a:xfrm>
            <a:off x="1274347" y="4831268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RO</a:t>
            </a:r>
          </a:p>
        </p:txBody>
      </p:sp>
      <p:sp>
        <p:nvSpPr>
          <p:cNvPr id="96" name="Isosceles Triangle 174"/>
          <p:cNvSpPr/>
          <p:nvPr/>
        </p:nvSpPr>
        <p:spPr>
          <a:xfrm rot="5400000">
            <a:off x="6006673" y="237617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7" name="Isosceles Triangle 174"/>
          <p:cNvSpPr/>
          <p:nvPr/>
        </p:nvSpPr>
        <p:spPr>
          <a:xfrm rot="5400000">
            <a:off x="8802158" y="237617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8" name="Isosceles Triangle 174"/>
          <p:cNvSpPr/>
          <p:nvPr/>
        </p:nvSpPr>
        <p:spPr>
          <a:xfrm rot="5400000">
            <a:off x="6016949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9" name="Isosceles Triangle 174"/>
          <p:cNvSpPr/>
          <p:nvPr/>
        </p:nvSpPr>
        <p:spPr>
          <a:xfrm rot="5400000">
            <a:off x="8799630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00" name="Isosceles Triangle 174"/>
          <p:cNvSpPr/>
          <p:nvPr/>
        </p:nvSpPr>
        <p:spPr>
          <a:xfrm rot="5400000">
            <a:off x="3249885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01" name="Isosceles Triangle 174"/>
          <p:cNvSpPr/>
          <p:nvPr/>
        </p:nvSpPr>
        <p:spPr>
          <a:xfrm rot="5400000">
            <a:off x="11580902" y="2363427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3457033" y="4718594"/>
            <a:ext cx="3872316" cy="1007011"/>
            <a:chOff x="787346" y="3309836"/>
            <a:chExt cx="2303409" cy="1007011"/>
          </a:xfrm>
        </p:grpSpPr>
        <p:sp>
          <p:nvSpPr>
            <p:cNvPr id="103" name="Rounded Rectangle 6"/>
            <p:cNvSpPr/>
            <p:nvPr/>
          </p:nvSpPr>
          <p:spPr>
            <a:xfrm>
              <a:off x="787346" y="3309836"/>
              <a:ext cx="2303409" cy="1007011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4" name="TextBox 45"/>
            <p:cNvSpPr txBox="1"/>
            <p:nvPr/>
          </p:nvSpPr>
          <p:spPr>
            <a:xfrm>
              <a:off x="849940" y="3475645"/>
              <a:ext cx="12535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R$ 110.316</a:t>
              </a:r>
            </a:p>
            <a:p>
              <a:pPr defTabSz="914080">
                <a:defRPr/>
              </a:pPr>
              <a:r>
                <a: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por mês</a:t>
              </a:r>
            </a:p>
          </p:txBody>
        </p:sp>
        <p:sp>
          <p:nvSpPr>
            <p:cNvPr id="105" name="Google Shape;111;p14"/>
            <p:cNvSpPr txBox="1"/>
            <p:nvPr/>
          </p:nvSpPr>
          <p:spPr>
            <a:xfrm>
              <a:off x="1561712" y="3330086"/>
              <a:ext cx="1499164" cy="922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Meta de Vendas (A):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Valor médio de vendas mensais para manter a operação 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u="sng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antes do pagamento de INV e FIN</a:t>
              </a:r>
            </a:p>
          </p:txBody>
        </p:sp>
      </p:grpSp>
      <p:grpSp>
        <p:nvGrpSpPr>
          <p:cNvPr id="106" name="Grupo 105"/>
          <p:cNvGrpSpPr/>
          <p:nvPr/>
        </p:nvGrpSpPr>
        <p:grpSpPr>
          <a:xfrm>
            <a:off x="7463685" y="4718594"/>
            <a:ext cx="4005387" cy="1007011"/>
            <a:chOff x="3587682" y="3323046"/>
            <a:chExt cx="2320976" cy="1007011"/>
          </a:xfrm>
        </p:grpSpPr>
        <p:sp>
          <p:nvSpPr>
            <p:cNvPr id="107" name="Rounded Rectangle 6"/>
            <p:cNvSpPr/>
            <p:nvPr/>
          </p:nvSpPr>
          <p:spPr>
            <a:xfrm>
              <a:off x="3587682" y="3323046"/>
              <a:ext cx="2320976" cy="1007011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8" name="TextBox 45"/>
            <p:cNvSpPr txBox="1"/>
            <p:nvPr/>
          </p:nvSpPr>
          <p:spPr>
            <a:xfrm>
              <a:off x="3621942" y="3493807"/>
              <a:ext cx="85050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40404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R$ 128.034</a:t>
              </a:r>
            </a:p>
            <a:p>
              <a:pPr defTabSz="914080">
                <a:defRPr/>
              </a:pPr>
              <a:r>
                <a:rPr lang="pt-BR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Por mês</a:t>
              </a: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4324602" y="3334665"/>
              <a:ext cx="1583296" cy="995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Meta de Vendas (B):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Valor médio de vendas mensais para não haver geração de caixa negativo 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u="sng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após pagamento de INV e FIN</a:t>
              </a:r>
              <a:endParaRPr lang="pt-BR" sz="1000" u="sng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59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/>
        </p:nvSpPr>
        <p:spPr>
          <a:xfrm>
            <a:off x="640625" y="535577"/>
            <a:ext cx="69507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400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</a:defRPr>
            </a:lvl1pPr>
          </a:lstStyle>
          <a:p>
            <a:r>
              <a:rPr lang="pt-BR" noProof="0" dirty="0">
                <a:sym typeface="Calibri"/>
              </a:rPr>
              <a:t>Oxímetro Gerencial</a:t>
            </a:r>
            <a:endParaRPr lang="pt-BR" noProof="0" dirty="0"/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14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6439D4F-825D-3A2F-0CD0-C9ECE5073997}"/>
              </a:ext>
            </a:extLst>
          </p:cNvPr>
          <p:cNvGrpSpPr/>
          <p:nvPr/>
        </p:nvGrpSpPr>
        <p:grpSpPr>
          <a:xfrm>
            <a:off x="3457033" y="1946931"/>
            <a:ext cx="2362552" cy="1007011"/>
            <a:chOff x="3462695" y="1948146"/>
            <a:chExt cx="2362552" cy="1007011"/>
          </a:xfrm>
        </p:grpSpPr>
        <p:sp>
          <p:nvSpPr>
            <p:cNvPr id="43" name="Rounded Rectangle 6"/>
            <p:cNvSpPr/>
            <p:nvPr/>
          </p:nvSpPr>
          <p:spPr>
            <a:xfrm>
              <a:off x="3462695" y="1948146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60536" y="2435932"/>
              <a:ext cx="211629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Vendas últimos </a:t>
              </a:r>
            </a:p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12 meses (LTM)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60537" y="2029849"/>
              <a:ext cx="1550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R$ 2.285.867</a:t>
              </a:r>
            </a:p>
          </p:txBody>
        </p:sp>
        <p:sp>
          <p:nvSpPr>
            <p:cNvPr id="65" name="Freeform 32"/>
            <p:cNvSpPr/>
            <p:nvPr/>
          </p:nvSpPr>
          <p:spPr>
            <a:xfrm>
              <a:off x="5212471" y="2075532"/>
              <a:ext cx="425774" cy="344059"/>
            </a:xfrm>
            <a:custGeom>
              <a:avLst/>
              <a:gdLst/>
              <a:ahLst/>
              <a:cxnLst/>
              <a:rect l="l" t="t" r="r" b="b"/>
              <a:pathLst>
                <a:path w="176808" h="142875">
                  <a:moveTo>
                    <a:pt x="135732" y="114300"/>
                  </a:moveTo>
                  <a:cubicBezTo>
                    <a:pt x="130969" y="114300"/>
                    <a:pt x="128588" y="116682"/>
                    <a:pt x="128588" y="121444"/>
                  </a:cubicBezTo>
                  <a:cubicBezTo>
                    <a:pt x="128588" y="126207"/>
                    <a:pt x="130969" y="128588"/>
                    <a:pt x="135732" y="128588"/>
                  </a:cubicBezTo>
                  <a:cubicBezTo>
                    <a:pt x="140494" y="128588"/>
                    <a:pt x="142875" y="126207"/>
                    <a:pt x="142875" y="121444"/>
                  </a:cubicBezTo>
                  <a:cubicBezTo>
                    <a:pt x="142875" y="116682"/>
                    <a:pt x="140494" y="114300"/>
                    <a:pt x="135732" y="114300"/>
                  </a:cubicBezTo>
                  <a:close/>
                  <a:moveTo>
                    <a:pt x="71438" y="114300"/>
                  </a:moveTo>
                  <a:cubicBezTo>
                    <a:pt x="66675" y="114300"/>
                    <a:pt x="64294" y="116682"/>
                    <a:pt x="64294" y="121444"/>
                  </a:cubicBezTo>
                  <a:cubicBezTo>
                    <a:pt x="64294" y="126207"/>
                    <a:pt x="66675" y="128588"/>
                    <a:pt x="71438" y="128588"/>
                  </a:cubicBezTo>
                  <a:cubicBezTo>
                    <a:pt x="76200" y="128588"/>
                    <a:pt x="78582" y="126207"/>
                    <a:pt x="78582" y="121444"/>
                  </a:cubicBezTo>
                  <a:cubicBezTo>
                    <a:pt x="78582" y="116682"/>
                    <a:pt x="76200" y="114300"/>
                    <a:pt x="71438" y="114300"/>
                  </a:cubicBezTo>
                  <a:close/>
                  <a:moveTo>
                    <a:pt x="135732" y="100013"/>
                  </a:moveTo>
                  <a:cubicBezTo>
                    <a:pt x="141685" y="100013"/>
                    <a:pt x="146745" y="102096"/>
                    <a:pt x="150912" y="106264"/>
                  </a:cubicBezTo>
                  <a:cubicBezTo>
                    <a:pt x="155079" y="110431"/>
                    <a:pt x="157163" y="115491"/>
                    <a:pt x="157163" y="121444"/>
                  </a:cubicBezTo>
                  <a:cubicBezTo>
                    <a:pt x="157163" y="127397"/>
                    <a:pt x="155079" y="132457"/>
                    <a:pt x="150912" y="136625"/>
                  </a:cubicBezTo>
                  <a:cubicBezTo>
                    <a:pt x="146745" y="140792"/>
                    <a:pt x="141685" y="142875"/>
                    <a:pt x="135732" y="142875"/>
                  </a:cubicBezTo>
                  <a:cubicBezTo>
                    <a:pt x="129779" y="142875"/>
                    <a:pt x="124718" y="140792"/>
                    <a:pt x="120551" y="136625"/>
                  </a:cubicBezTo>
                  <a:cubicBezTo>
                    <a:pt x="116384" y="132457"/>
                    <a:pt x="114300" y="127397"/>
                    <a:pt x="114300" y="121444"/>
                  </a:cubicBezTo>
                  <a:cubicBezTo>
                    <a:pt x="114300" y="115491"/>
                    <a:pt x="116384" y="110431"/>
                    <a:pt x="120551" y="106264"/>
                  </a:cubicBezTo>
                  <a:cubicBezTo>
                    <a:pt x="124718" y="102096"/>
                    <a:pt x="129779" y="100013"/>
                    <a:pt x="135732" y="100013"/>
                  </a:cubicBezTo>
                  <a:close/>
                  <a:moveTo>
                    <a:pt x="71438" y="100013"/>
                  </a:moveTo>
                  <a:cubicBezTo>
                    <a:pt x="77391" y="100013"/>
                    <a:pt x="82451" y="102096"/>
                    <a:pt x="86618" y="106264"/>
                  </a:cubicBezTo>
                  <a:cubicBezTo>
                    <a:pt x="90786" y="110431"/>
                    <a:pt x="92869" y="115491"/>
                    <a:pt x="92869" y="121444"/>
                  </a:cubicBezTo>
                  <a:cubicBezTo>
                    <a:pt x="92869" y="127397"/>
                    <a:pt x="90786" y="132457"/>
                    <a:pt x="86618" y="136625"/>
                  </a:cubicBezTo>
                  <a:cubicBezTo>
                    <a:pt x="82451" y="140792"/>
                    <a:pt x="77391" y="142875"/>
                    <a:pt x="71438" y="142875"/>
                  </a:cubicBezTo>
                  <a:cubicBezTo>
                    <a:pt x="65485" y="142875"/>
                    <a:pt x="60425" y="140792"/>
                    <a:pt x="56257" y="136625"/>
                  </a:cubicBezTo>
                  <a:cubicBezTo>
                    <a:pt x="52090" y="132457"/>
                    <a:pt x="50007" y="127397"/>
                    <a:pt x="50007" y="121444"/>
                  </a:cubicBezTo>
                  <a:cubicBezTo>
                    <a:pt x="50007" y="115491"/>
                    <a:pt x="52090" y="110431"/>
                    <a:pt x="56257" y="106264"/>
                  </a:cubicBezTo>
                  <a:cubicBezTo>
                    <a:pt x="60425" y="102096"/>
                    <a:pt x="65485" y="100013"/>
                    <a:pt x="71438" y="100013"/>
                  </a:cubicBezTo>
                  <a:close/>
                  <a:moveTo>
                    <a:pt x="92869" y="0"/>
                  </a:moveTo>
                  <a:lnTo>
                    <a:pt x="107157" y="0"/>
                  </a:lnTo>
                  <a:lnTo>
                    <a:pt x="107157" y="35719"/>
                  </a:lnTo>
                  <a:lnTo>
                    <a:pt x="128588" y="35719"/>
                  </a:lnTo>
                  <a:lnTo>
                    <a:pt x="100013" y="64294"/>
                  </a:lnTo>
                  <a:lnTo>
                    <a:pt x="71438" y="35719"/>
                  </a:lnTo>
                  <a:lnTo>
                    <a:pt x="92869" y="35719"/>
                  </a:lnTo>
                  <a:close/>
                  <a:moveTo>
                    <a:pt x="7144" y="0"/>
                  </a:moveTo>
                  <a:lnTo>
                    <a:pt x="23218" y="0"/>
                  </a:lnTo>
                  <a:cubicBezTo>
                    <a:pt x="26492" y="0"/>
                    <a:pt x="29394" y="968"/>
                    <a:pt x="31924" y="2903"/>
                  </a:cubicBezTo>
                  <a:cubicBezTo>
                    <a:pt x="34454" y="4837"/>
                    <a:pt x="36017" y="7442"/>
                    <a:pt x="36612" y="10716"/>
                  </a:cubicBezTo>
                  <a:lnTo>
                    <a:pt x="55364" y="85725"/>
                  </a:lnTo>
                  <a:lnTo>
                    <a:pt x="144661" y="85725"/>
                  </a:lnTo>
                  <a:lnTo>
                    <a:pt x="161628" y="21432"/>
                  </a:lnTo>
                  <a:lnTo>
                    <a:pt x="176808" y="21432"/>
                  </a:lnTo>
                  <a:lnTo>
                    <a:pt x="158056" y="89297"/>
                  </a:lnTo>
                  <a:cubicBezTo>
                    <a:pt x="157461" y="92571"/>
                    <a:pt x="155898" y="95176"/>
                    <a:pt x="153368" y="97111"/>
                  </a:cubicBezTo>
                  <a:cubicBezTo>
                    <a:pt x="150838" y="99045"/>
                    <a:pt x="147936" y="100013"/>
                    <a:pt x="144661" y="100013"/>
                  </a:cubicBezTo>
                  <a:lnTo>
                    <a:pt x="135732" y="100013"/>
                  </a:lnTo>
                  <a:lnTo>
                    <a:pt x="71438" y="100013"/>
                  </a:lnTo>
                  <a:lnTo>
                    <a:pt x="55364" y="100013"/>
                  </a:lnTo>
                  <a:cubicBezTo>
                    <a:pt x="52090" y="100013"/>
                    <a:pt x="49188" y="99045"/>
                    <a:pt x="46658" y="97111"/>
                  </a:cubicBezTo>
                  <a:cubicBezTo>
                    <a:pt x="44128" y="95176"/>
                    <a:pt x="42565" y="92571"/>
                    <a:pt x="41970" y="89297"/>
                  </a:cubicBezTo>
                  <a:lnTo>
                    <a:pt x="23218" y="14288"/>
                  </a:lnTo>
                  <a:lnTo>
                    <a:pt x="7144" y="14288"/>
                  </a:lnTo>
                  <a:cubicBezTo>
                    <a:pt x="5061" y="14288"/>
                    <a:pt x="3349" y="13618"/>
                    <a:pt x="2010" y="12279"/>
                  </a:cubicBezTo>
                  <a:cubicBezTo>
                    <a:pt x="670" y="10939"/>
                    <a:pt x="0" y="9228"/>
                    <a:pt x="0" y="7144"/>
                  </a:cubicBezTo>
                  <a:cubicBezTo>
                    <a:pt x="0" y="5061"/>
                    <a:pt x="670" y="3349"/>
                    <a:pt x="2010" y="2010"/>
                  </a:cubicBezTo>
                  <a:cubicBezTo>
                    <a:pt x="3349" y="670"/>
                    <a:pt x="5061" y="0"/>
                    <a:pt x="71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A2ABB83-B462-346A-5A36-8D38D542A55F}"/>
              </a:ext>
            </a:extLst>
          </p:cNvPr>
          <p:cNvGrpSpPr/>
          <p:nvPr/>
        </p:nvGrpSpPr>
        <p:grpSpPr>
          <a:xfrm>
            <a:off x="6301625" y="1955879"/>
            <a:ext cx="2362552" cy="1007011"/>
            <a:chOff x="6307287" y="1957094"/>
            <a:chExt cx="2362552" cy="1007011"/>
          </a:xfrm>
        </p:grpSpPr>
        <p:sp>
          <p:nvSpPr>
            <p:cNvPr id="70" name="Rounded Rectangle 6"/>
            <p:cNvSpPr/>
            <p:nvPr/>
          </p:nvSpPr>
          <p:spPr>
            <a:xfrm>
              <a:off x="6307287" y="1957094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2E517F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89694" y="2436527"/>
              <a:ext cx="200643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Margem de contribuição (MC) projetada</a:t>
              </a:r>
            </a:p>
          </p:txBody>
        </p:sp>
        <p:sp>
          <p:nvSpPr>
            <p:cNvPr id="66" name="TextBox 35"/>
            <p:cNvSpPr txBox="1"/>
            <p:nvPr/>
          </p:nvSpPr>
          <p:spPr>
            <a:xfrm>
              <a:off x="6389694" y="2037406"/>
              <a:ext cx="19792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86.56% </a:t>
              </a:r>
              <a:r>
                <a:rPr lang="pt-BR" sz="16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(R$ 2.113.046)</a:t>
              </a:r>
              <a:endParaRPr lang="pt-BR" sz="24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endParaRPr>
            </a:p>
          </p:txBody>
        </p:sp>
        <p:sp>
          <p:nvSpPr>
            <p:cNvPr id="67" name="Freeform 43"/>
            <p:cNvSpPr/>
            <p:nvPr/>
          </p:nvSpPr>
          <p:spPr>
            <a:xfrm>
              <a:off x="8288170" y="2083089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9095633" y="1955879"/>
            <a:ext cx="2362552" cy="1007011"/>
            <a:chOff x="6382143" y="1849492"/>
            <a:chExt cx="2362552" cy="1007011"/>
          </a:xfrm>
        </p:grpSpPr>
        <p:sp>
          <p:nvSpPr>
            <p:cNvPr id="73" name="Rounded Rectangle 6"/>
            <p:cNvSpPr/>
            <p:nvPr/>
          </p:nvSpPr>
          <p:spPr>
            <a:xfrm>
              <a:off x="6382143" y="1849492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426EBE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28048" y="1940351"/>
              <a:ext cx="15550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R$ 2.104.591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65495" y="2346434"/>
              <a:ext cx="21415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Gastos fixos operacionais (GFO) projetados</a:t>
              </a:r>
            </a:p>
          </p:txBody>
        </p:sp>
        <p:sp>
          <p:nvSpPr>
            <p:cNvPr id="71" name="Freeform 44"/>
            <p:cNvSpPr/>
            <p:nvPr/>
          </p:nvSpPr>
          <p:spPr>
            <a:xfrm>
              <a:off x="8184232" y="194745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6538B04-8FA4-D596-CF40-88D0C48BEC6D}"/>
              </a:ext>
            </a:extLst>
          </p:cNvPr>
          <p:cNvGrpSpPr/>
          <p:nvPr/>
        </p:nvGrpSpPr>
        <p:grpSpPr>
          <a:xfrm>
            <a:off x="3468480" y="3284984"/>
            <a:ext cx="2362552" cy="1007011"/>
            <a:chOff x="3468480" y="3078432"/>
            <a:chExt cx="2362552" cy="1007011"/>
          </a:xfrm>
        </p:grpSpPr>
        <p:sp>
          <p:nvSpPr>
            <p:cNvPr id="62" name="Rounded Rectangle 38"/>
            <p:cNvSpPr/>
            <p:nvPr/>
          </p:nvSpPr>
          <p:spPr>
            <a:xfrm>
              <a:off x="3468480" y="3078432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416EB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592658" y="3165308"/>
              <a:ext cx="1657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R$ 8.455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81646" y="3571391"/>
              <a:ext cx="21117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Resultado operacional (RO) estimado</a:t>
              </a:r>
            </a:p>
          </p:txBody>
        </p:sp>
        <p:sp>
          <p:nvSpPr>
            <p:cNvPr id="72" name="Freeform 66"/>
            <p:cNvSpPr/>
            <p:nvPr/>
          </p:nvSpPr>
          <p:spPr>
            <a:xfrm>
              <a:off x="5250170" y="3180814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6318557" y="3299832"/>
            <a:ext cx="2362552" cy="1007011"/>
            <a:chOff x="6411463" y="3280628"/>
            <a:chExt cx="2362552" cy="1007011"/>
          </a:xfrm>
        </p:grpSpPr>
        <p:sp>
          <p:nvSpPr>
            <p:cNvPr id="75" name="Rounded Rectangle 6"/>
            <p:cNvSpPr/>
            <p:nvPr/>
          </p:nvSpPr>
          <p:spPr>
            <a:xfrm>
              <a:off x="6411463" y="3280628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1000">
                  <a:srgbClr val="2E517F">
                    <a:lumMod val="59000"/>
                  </a:srgbClr>
                </a:gs>
                <a:gs pos="100000">
                  <a:srgbClr val="416EBC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0" name="TextBox 19"/>
            <p:cNvSpPr txBox="1"/>
            <p:nvPr/>
          </p:nvSpPr>
          <p:spPr>
            <a:xfrm>
              <a:off x="6528048" y="3355485"/>
              <a:ext cx="20790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R$ 211.869</a:t>
              </a:r>
            </a:p>
            <a:p>
              <a:pPr defTabSz="914080">
                <a:defRPr/>
              </a:pPr>
              <a:endParaRPr lang="pt-BR" sz="2400" noProof="0" dirty="0">
                <a:solidFill>
                  <a:srgbClr val="C00000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endParaRPr>
            </a:p>
          </p:txBody>
        </p:sp>
        <p:sp>
          <p:nvSpPr>
            <p:cNvPr id="51" name="TextBox 20"/>
            <p:cNvSpPr txBox="1"/>
            <p:nvPr/>
          </p:nvSpPr>
          <p:spPr>
            <a:xfrm>
              <a:off x="6528048" y="3761568"/>
              <a:ext cx="22250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Investimentos (INV) e Financiamentos (FIN)</a:t>
              </a:r>
            </a:p>
          </p:txBody>
        </p:sp>
        <p:sp>
          <p:nvSpPr>
            <p:cNvPr id="76" name="Freeform 44"/>
            <p:cNvSpPr/>
            <p:nvPr/>
          </p:nvSpPr>
          <p:spPr>
            <a:xfrm>
              <a:off x="8211228" y="336632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9106520" y="3309409"/>
            <a:ext cx="2362552" cy="1007011"/>
            <a:chOff x="9134123" y="3291175"/>
            <a:chExt cx="2362552" cy="1007011"/>
          </a:xfrm>
        </p:grpSpPr>
        <p:sp>
          <p:nvSpPr>
            <p:cNvPr id="74" name="Rounded Rectangle 38"/>
            <p:cNvSpPr/>
            <p:nvPr/>
          </p:nvSpPr>
          <p:spPr>
            <a:xfrm>
              <a:off x="9134123" y="3291175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26000">
                  <a:srgbClr val="A30A03"/>
                </a:gs>
                <a:gs pos="100000">
                  <a:schemeClr val="accent2">
                    <a:lumMod val="75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outerShdw blurRad="495300" dist="114300" dir="2700000" algn="tl" rotWithShape="0">
                <a:srgbClr val="2E517F">
                  <a:alpha val="8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6" name="TextBox 43"/>
            <p:cNvSpPr txBox="1"/>
            <p:nvPr/>
          </p:nvSpPr>
          <p:spPr>
            <a:xfrm>
              <a:off x="9258301" y="3360009"/>
              <a:ext cx="20942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- R$ 203.414</a:t>
              </a:r>
            </a:p>
          </p:txBody>
        </p:sp>
        <p:sp>
          <p:nvSpPr>
            <p:cNvPr id="57" name="TextBox 44"/>
            <p:cNvSpPr txBox="1"/>
            <p:nvPr/>
          </p:nvSpPr>
          <p:spPr>
            <a:xfrm>
              <a:off x="9247289" y="3766092"/>
              <a:ext cx="21052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Resultado financeiro estimado após INV e FIN</a:t>
              </a:r>
            </a:p>
          </p:txBody>
        </p:sp>
        <p:sp>
          <p:nvSpPr>
            <p:cNvPr id="77" name="Freeform 66"/>
            <p:cNvSpPr/>
            <p:nvPr/>
          </p:nvSpPr>
          <p:spPr>
            <a:xfrm>
              <a:off x="10942809" y="3381291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49" name="Group 2"/>
          <p:cNvGrpSpPr/>
          <p:nvPr/>
        </p:nvGrpSpPr>
        <p:grpSpPr>
          <a:xfrm>
            <a:off x="752098" y="1938867"/>
            <a:ext cx="2374862" cy="3794375"/>
            <a:chOff x="15914251" y="4562957"/>
            <a:chExt cx="7791282" cy="8275719"/>
          </a:xfrm>
        </p:grpSpPr>
        <p:sp>
          <p:nvSpPr>
            <p:cNvPr id="53" name="Rounded Rectangle 261"/>
            <p:cNvSpPr/>
            <p:nvPr/>
          </p:nvSpPr>
          <p:spPr>
            <a:xfrm>
              <a:off x="15914251" y="4562957"/>
              <a:ext cx="7791282" cy="8275719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723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grpSp>
          <p:nvGrpSpPr>
            <p:cNvPr id="55" name="Group 6"/>
            <p:cNvGrpSpPr/>
            <p:nvPr/>
          </p:nvGrpSpPr>
          <p:grpSpPr>
            <a:xfrm>
              <a:off x="16730888" y="5328136"/>
              <a:ext cx="6117367" cy="6043738"/>
              <a:chOff x="13328202" y="3933060"/>
              <a:chExt cx="8820150" cy="8713986"/>
            </a:xfrm>
          </p:grpSpPr>
          <p:grpSp>
            <p:nvGrpSpPr>
              <p:cNvPr id="69" name="Group 264"/>
              <p:cNvGrpSpPr/>
              <p:nvPr/>
            </p:nvGrpSpPr>
            <p:grpSpPr>
              <a:xfrm>
                <a:off x="15288707" y="10360645"/>
                <a:ext cx="4849607" cy="2286401"/>
                <a:chOff x="4568125" y="1485900"/>
                <a:chExt cx="9035204" cy="4259751"/>
              </a:xfrm>
              <a:effectLst>
                <a:outerShdw blurRad="508000" dist="152400" dir="5400000" algn="t" rotWithShape="0">
                  <a:prstClr val="black">
                    <a:alpha val="31000"/>
                  </a:prstClr>
                </a:outerShdw>
              </a:effectLst>
            </p:grpSpPr>
            <p:sp>
              <p:nvSpPr>
                <p:cNvPr id="90" name="Freeform 335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91" name="Freeform 336"/>
                <p:cNvSpPr/>
                <p:nvPr/>
              </p:nvSpPr>
              <p:spPr>
                <a:xfrm>
                  <a:off x="4568125" y="2973871"/>
                  <a:ext cx="9035204" cy="2771780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rgbClr val="7F9D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92" name="Donut 337"/>
                <p:cNvSpPr/>
                <p:nvPr/>
              </p:nvSpPr>
              <p:spPr>
                <a:xfrm>
                  <a:off x="4568125" y="1485900"/>
                  <a:ext cx="9035204" cy="3105152"/>
                </a:xfrm>
                <a:prstGeom prst="donut">
                  <a:avLst>
                    <a:gd name="adj" fmla="val 18071"/>
                  </a:avLst>
                </a:prstGeom>
                <a:solidFill>
                  <a:srgbClr val="95A8C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78" name="Group 339"/>
              <p:cNvGrpSpPr/>
              <p:nvPr/>
            </p:nvGrpSpPr>
            <p:grpSpPr>
              <a:xfrm>
                <a:off x="14552361" y="8427751"/>
                <a:ext cx="6379119" cy="3050224"/>
                <a:chOff x="4599551" y="1485900"/>
                <a:chExt cx="9003943" cy="4305300"/>
              </a:xfrm>
              <a:effectLst>
                <a:outerShdw blurRad="431800" dist="76200" dir="5400000" algn="t" rotWithShape="0">
                  <a:prstClr val="black">
                    <a:alpha val="25000"/>
                  </a:prstClr>
                </a:outerShdw>
              </a:effectLst>
            </p:grpSpPr>
            <p:sp>
              <p:nvSpPr>
                <p:cNvPr id="87" name="Freeform 352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8" name="Freeform 353"/>
                <p:cNvSpPr/>
                <p:nvPr/>
              </p:nvSpPr>
              <p:spPr>
                <a:xfrm>
                  <a:off x="4599551" y="3019422"/>
                  <a:ext cx="9003943" cy="2771778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9" name="Donut 354"/>
                <p:cNvSpPr/>
                <p:nvPr/>
              </p:nvSpPr>
              <p:spPr>
                <a:xfrm>
                  <a:off x="4599551" y="1485900"/>
                  <a:ext cx="9003943" cy="3105150"/>
                </a:xfrm>
                <a:prstGeom prst="donut">
                  <a:avLst>
                    <a:gd name="adj" fmla="val 17273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79" name="Group 356"/>
              <p:cNvGrpSpPr/>
              <p:nvPr/>
            </p:nvGrpSpPr>
            <p:grpSpPr>
              <a:xfrm>
                <a:off x="14109252" y="6409560"/>
                <a:ext cx="7259061" cy="3543300"/>
                <a:chOff x="4686300" y="1485900"/>
                <a:chExt cx="8820150" cy="4305300"/>
              </a:xfrm>
              <a:effectLst>
                <a:outerShdw blurRad="444500" dist="114300" dir="5400000" algn="t" rotWithShape="0">
                  <a:prstClr val="black">
                    <a:alpha val="31000"/>
                  </a:prstClr>
                </a:outerShdw>
              </a:effectLst>
            </p:grpSpPr>
            <p:sp>
              <p:nvSpPr>
                <p:cNvPr id="84" name="Freeform 369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5" name="Freeform 370"/>
                <p:cNvSpPr/>
                <p:nvPr/>
              </p:nvSpPr>
              <p:spPr>
                <a:xfrm>
                  <a:off x="4686300" y="3019428"/>
                  <a:ext cx="8820144" cy="2771772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6" name="Donut 371"/>
                <p:cNvSpPr/>
                <p:nvPr/>
              </p:nvSpPr>
              <p:spPr>
                <a:xfrm>
                  <a:off x="4686300" y="1485900"/>
                  <a:ext cx="8820150" cy="3105150"/>
                </a:xfrm>
                <a:prstGeom prst="donut">
                  <a:avLst>
                    <a:gd name="adj" fmla="val 16469"/>
                  </a:avLst>
                </a:prstGeom>
                <a:solidFill>
                  <a:srgbClr val="4371C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80" name="Group 373"/>
              <p:cNvGrpSpPr/>
              <p:nvPr/>
            </p:nvGrpSpPr>
            <p:grpSpPr>
              <a:xfrm>
                <a:off x="13328202" y="3933060"/>
                <a:ext cx="8820150" cy="4305300"/>
                <a:chOff x="4686300" y="1485900"/>
                <a:chExt cx="8820150" cy="4305300"/>
              </a:xfrm>
              <a:effectLst>
                <a:outerShdw blurRad="330200" dist="114300" dir="5400000" algn="t" rotWithShape="0">
                  <a:prstClr val="black">
                    <a:alpha val="28000"/>
                  </a:prstClr>
                </a:outerShdw>
              </a:effectLst>
            </p:grpSpPr>
            <p:sp>
              <p:nvSpPr>
                <p:cNvPr id="81" name="Freeform 386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2" name="Freeform 387"/>
                <p:cNvSpPr/>
                <p:nvPr/>
              </p:nvSpPr>
              <p:spPr>
                <a:xfrm>
                  <a:off x="4686300" y="3019423"/>
                  <a:ext cx="8820150" cy="2771777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3" name="Donut 388"/>
                <p:cNvSpPr/>
                <p:nvPr/>
              </p:nvSpPr>
              <p:spPr>
                <a:xfrm>
                  <a:off x="4686300" y="1485900"/>
                  <a:ext cx="8820150" cy="3105150"/>
                </a:xfrm>
                <a:prstGeom prst="donut">
                  <a:avLst>
                    <a:gd name="adj" fmla="val 11260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</p:grpSp>
        <p:sp>
          <p:nvSpPr>
            <p:cNvPr id="61" name="TextBox 389"/>
            <p:cNvSpPr txBox="1"/>
            <p:nvPr/>
          </p:nvSpPr>
          <p:spPr>
            <a:xfrm>
              <a:off x="17448672" y="7548380"/>
              <a:ext cx="4681789" cy="553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828526">
                <a:defRPr/>
              </a:pPr>
              <a:r>
                <a:rPr lang="pt-BR" sz="1050" noProof="0" dirty="0">
                  <a:solidFill>
                    <a:prstClr val="white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VENDAS LTM</a:t>
              </a:r>
            </a:p>
          </p:txBody>
        </p:sp>
      </p:grpSp>
      <p:sp>
        <p:nvSpPr>
          <p:cNvPr id="93" name="TextBox 389"/>
          <p:cNvSpPr txBox="1"/>
          <p:nvPr/>
        </p:nvSpPr>
        <p:spPr>
          <a:xfrm>
            <a:off x="1283798" y="3919600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MC</a:t>
            </a:r>
          </a:p>
        </p:txBody>
      </p:sp>
      <p:sp>
        <p:nvSpPr>
          <p:cNvPr id="94" name="TextBox 389"/>
          <p:cNvSpPr txBox="1"/>
          <p:nvPr/>
        </p:nvSpPr>
        <p:spPr>
          <a:xfrm>
            <a:off x="1283798" y="4394426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GFO</a:t>
            </a:r>
          </a:p>
        </p:txBody>
      </p:sp>
      <p:sp>
        <p:nvSpPr>
          <p:cNvPr id="95" name="TextBox 389"/>
          <p:cNvSpPr txBox="1"/>
          <p:nvPr/>
        </p:nvSpPr>
        <p:spPr>
          <a:xfrm>
            <a:off x="1274347" y="4831268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RO</a:t>
            </a:r>
          </a:p>
        </p:txBody>
      </p:sp>
      <p:sp>
        <p:nvSpPr>
          <p:cNvPr id="96" name="Isosceles Triangle 174"/>
          <p:cNvSpPr/>
          <p:nvPr/>
        </p:nvSpPr>
        <p:spPr>
          <a:xfrm rot="5400000">
            <a:off x="6006673" y="237617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7" name="Isosceles Triangle 174"/>
          <p:cNvSpPr/>
          <p:nvPr/>
        </p:nvSpPr>
        <p:spPr>
          <a:xfrm rot="5400000">
            <a:off x="8802158" y="237617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8" name="Isosceles Triangle 174"/>
          <p:cNvSpPr/>
          <p:nvPr/>
        </p:nvSpPr>
        <p:spPr>
          <a:xfrm rot="5400000">
            <a:off x="6016949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9" name="Isosceles Triangle 174"/>
          <p:cNvSpPr/>
          <p:nvPr/>
        </p:nvSpPr>
        <p:spPr>
          <a:xfrm rot="5400000">
            <a:off x="8799630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00" name="Isosceles Triangle 174"/>
          <p:cNvSpPr/>
          <p:nvPr/>
        </p:nvSpPr>
        <p:spPr>
          <a:xfrm rot="5400000">
            <a:off x="3249885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01" name="Isosceles Triangle 174"/>
          <p:cNvSpPr/>
          <p:nvPr/>
        </p:nvSpPr>
        <p:spPr>
          <a:xfrm rot="5400000">
            <a:off x="11580902" y="2363427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3457033" y="4718594"/>
            <a:ext cx="3872316" cy="1007011"/>
            <a:chOff x="787346" y="3309836"/>
            <a:chExt cx="2303409" cy="1007011"/>
          </a:xfrm>
        </p:grpSpPr>
        <p:sp>
          <p:nvSpPr>
            <p:cNvPr id="103" name="Rounded Rectangle 6"/>
            <p:cNvSpPr/>
            <p:nvPr/>
          </p:nvSpPr>
          <p:spPr>
            <a:xfrm>
              <a:off x="787346" y="3309836"/>
              <a:ext cx="2303409" cy="1007011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4" name="TextBox 45"/>
            <p:cNvSpPr txBox="1"/>
            <p:nvPr/>
          </p:nvSpPr>
          <p:spPr>
            <a:xfrm>
              <a:off x="849940" y="3475645"/>
              <a:ext cx="12535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R$ 206.341</a:t>
              </a:r>
            </a:p>
            <a:p>
              <a:pPr defTabSz="914080">
                <a:defRPr/>
              </a:pPr>
              <a:r>
                <a: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por mês</a:t>
              </a:r>
            </a:p>
          </p:txBody>
        </p:sp>
        <p:sp>
          <p:nvSpPr>
            <p:cNvPr id="105" name="Google Shape;111;p14"/>
            <p:cNvSpPr txBox="1"/>
            <p:nvPr/>
          </p:nvSpPr>
          <p:spPr>
            <a:xfrm>
              <a:off x="1561712" y="3330086"/>
              <a:ext cx="1499164" cy="922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Meta de Vendas (A):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Valor médio de vendas mensais para manter a operação 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u="sng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antes do pagamento de INV e FIN</a:t>
              </a:r>
            </a:p>
          </p:txBody>
        </p:sp>
      </p:grpSp>
      <p:grpSp>
        <p:nvGrpSpPr>
          <p:cNvPr id="106" name="Grupo 105"/>
          <p:cNvGrpSpPr/>
          <p:nvPr/>
        </p:nvGrpSpPr>
        <p:grpSpPr>
          <a:xfrm>
            <a:off x="7463685" y="4718594"/>
            <a:ext cx="4005387" cy="1007011"/>
            <a:chOff x="3587682" y="3323046"/>
            <a:chExt cx="2320976" cy="1007011"/>
          </a:xfrm>
        </p:grpSpPr>
        <p:sp>
          <p:nvSpPr>
            <p:cNvPr id="107" name="Rounded Rectangle 6"/>
            <p:cNvSpPr/>
            <p:nvPr/>
          </p:nvSpPr>
          <p:spPr>
            <a:xfrm>
              <a:off x="3587682" y="3323046"/>
              <a:ext cx="2320976" cy="1007011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8" name="TextBox 45"/>
            <p:cNvSpPr txBox="1"/>
            <p:nvPr/>
          </p:nvSpPr>
          <p:spPr>
            <a:xfrm>
              <a:off x="3621942" y="3493807"/>
              <a:ext cx="85050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40404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R$ 226.738</a:t>
              </a:r>
            </a:p>
            <a:p>
              <a:pPr defTabSz="914080">
                <a:defRPr/>
              </a:pPr>
              <a:r>
                <a:rPr lang="pt-BR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Por mês</a:t>
              </a: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4324602" y="3334665"/>
              <a:ext cx="1583296" cy="995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Meta de Vendas (B):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Valor médio de vendas mensais para não haver geração de caixa negativo 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u="sng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após pagamento de INV e FIN</a:t>
              </a:r>
              <a:endParaRPr lang="pt-BR" sz="1000" u="sng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endParaRPr>
            </a:p>
          </p:txBody>
        </p:sp>
      </p:grpSp>
      <p:sp>
        <p:nvSpPr>
          <p:cNvPr id="113" name="Google Shape;112;p14"/>
          <p:cNvSpPr txBox="1"/>
          <p:nvPr/>
        </p:nvSpPr>
        <p:spPr>
          <a:xfrm>
            <a:off x="669200" y="1124758"/>
            <a:ext cx="8955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914400">
              <a:defRPr sz="1100" spc="0">
                <a:solidFill>
                  <a:srgbClr val="2F5496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noProof="0" dirty="0">
                <a:sym typeface="Calibri"/>
              </a:rPr>
              <a:t>PROJEÇÃO RESULTADO APÓS OS PRÓXIMOS 12 MESES | PERSPECTIVA DAS VENDAS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10970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/>
        </p:nvSpPr>
        <p:spPr>
          <a:xfrm>
            <a:off x="640625" y="535577"/>
            <a:ext cx="69507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4000">
                <a:solidFill>
                  <a:srgbClr val="262626"/>
                </a:solidFill>
                <a:latin typeface="Bebas Neue" panose="020B0606020202050201" pitchFamily="34" charset="0"/>
                <a:ea typeface="Calibri"/>
                <a:cs typeface="Roboto"/>
              </a:defRPr>
            </a:lvl1pPr>
          </a:lstStyle>
          <a:p>
            <a:r>
              <a:rPr lang="pt-BR" noProof="0" dirty="0">
                <a:sym typeface="Calibri"/>
              </a:rPr>
              <a:t>Oxímetro Gerencial</a:t>
            </a:r>
            <a:endParaRPr lang="pt-BR" noProof="0" dirty="0"/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753475" y="6318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 noProof="0">
                <a:solidFill>
                  <a:srgbClr val="2F5496"/>
                </a:solidFill>
              </a:rPr>
              <a:t>15</a:t>
            </a:fld>
            <a:endParaRPr lang="pt-BR" b="1" noProof="0" dirty="0">
              <a:solidFill>
                <a:srgbClr val="2F5496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69199" y="1124758"/>
            <a:ext cx="77920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defTabSz="914400">
              <a:defRPr sz="1100" spc="0">
                <a:solidFill>
                  <a:srgbClr val="2F5496"/>
                </a:solidFill>
                <a:latin typeface="Montserrat Medium" panose="00000600000000000000" pitchFamily="2" charset="0"/>
              </a:defRPr>
            </a:lvl1pPr>
          </a:lstStyle>
          <a:p>
            <a:r>
              <a:rPr lang="pt-BR" noProof="0" dirty="0">
                <a:sym typeface="Calibri"/>
              </a:rPr>
              <a:t>PROJEÇÃO RESULTADO APÓS OS PRÓXIMOS 12 MESES | PERSPECTIVA DAS RECEITAS OPERACIONAIS</a:t>
            </a:r>
            <a:endParaRPr lang="pt-BR" noProof="0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6439D4F-825D-3A2F-0CD0-C9ECE5073997}"/>
              </a:ext>
            </a:extLst>
          </p:cNvPr>
          <p:cNvGrpSpPr/>
          <p:nvPr/>
        </p:nvGrpSpPr>
        <p:grpSpPr>
          <a:xfrm>
            <a:off x="3457033" y="1946931"/>
            <a:ext cx="2362552" cy="1007011"/>
            <a:chOff x="3462695" y="1948146"/>
            <a:chExt cx="2362552" cy="1007011"/>
          </a:xfrm>
        </p:grpSpPr>
        <p:sp>
          <p:nvSpPr>
            <p:cNvPr id="43" name="Rounded Rectangle 6"/>
            <p:cNvSpPr/>
            <p:nvPr/>
          </p:nvSpPr>
          <p:spPr>
            <a:xfrm>
              <a:off x="3462695" y="1948146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60536" y="2435932"/>
              <a:ext cx="211629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Receitas Operacionais últimos 12 meses (LTM)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60537" y="2029849"/>
              <a:ext cx="1550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R$ 1.356.271</a:t>
              </a:r>
            </a:p>
          </p:txBody>
        </p:sp>
        <p:sp>
          <p:nvSpPr>
            <p:cNvPr id="65" name="Freeform 32"/>
            <p:cNvSpPr/>
            <p:nvPr/>
          </p:nvSpPr>
          <p:spPr>
            <a:xfrm>
              <a:off x="5212471" y="2075532"/>
              <a:ext cx="425774" cy="344059"/>
            </a:xfrm>
            <a:custGeom>
              <a:avLst/>
              <a:gdLst/>
              <a:ahLst/>
              <a:cxnLst/>
              <a:rect l="l" t="t" r="r" b="b"/>
              <a:pathLst>
                <a:path w="176808" h="142875">
                  <a:moveTo>
                    <a:pt x="135732" y="114300"/>
                  </a:moveTo>
                  <a:cubicBezTo>
                    <a:pt x="130969" y="114300"/>
                    <a:pt x="128588" y="116682"/>
                    <a:pt x="128588" y="121444"/>
                  </a:cubicBezTo>
                  <a:cubicBezTo>
                    <a:pt x="128588" y="126207"/>
                    <a:pt x="130969" y="128588"/>
                    <a:pt x="135732" y="128588"/>
                  </a:cubicBezTo>
                  <a:cubicBezTo>
                    <a:pt x="140494" y="128588"/>
                    <a:pt x="142875" y="126207"/>
                    <a:pt x="142875" y="121444"/>
                  </a:cubicBezTo>
                  <a:cubicBezTo>
                    <a:pt x="142875" y="116682"/>
                    <a:pt x="140494" y="114300"/>
                    <a:pt x="135732" y="114300"/>
                  </a:cubicBezTo>
                  <a:close/>
                  <a:moveTo>
                    <a:pt x="71438" y="114300"/>
                  </a:moveTo>
                  <a:cubicBezTo>
                    <a:pt x="66675" y="114300"/>
                    <a:pt x="64294" y="116682"/>
                    <a:pt x="64294" y="121444"/>
                  </a:cubicBezTo>
                  <a:cubicBezTo>
                    <a:pt x="64294" y="126207"/>
                    <a:pt x="66675" y="128588"/>
                    <a:pt x="71438" y="128588"/>
                  </a:cubicBezTo>
                  <a:cubicBezTo>
                    <a:pt x="76200" y="128588"/>
                    <a:pt x="78582" y="126207"/>
                    <a:pt x="78582" y="121444"/>
                  </a:cubicBezTo>
                  <a:cubicBezTo>
                    <a:pt x="78582" y="116682"/>
                    <a:pt x="76200" y="114300"/>
                    <a:pt x="71438" y="114300"/>
                  </a:cubicBezTo>
                  <a:close/>
                  <a:moveTo>
                    <a:pt x="135732" y="100013"/>
                  </a:moveTo>
                  <a:cubicBezTo>
                    <a:pt x="141685" y="100013"/>
                    <a:pt x="146745" y="102096"/>
                    <a:pt x="150912" y="106264"/>
                  </a:cubicBezTo>
                  <a:cubicBezTo>
                    <a:pt x="155079" y="110431"/>
                    <a:pt x="157163" y="115491"/>
                    <a:pt x="157163" y="121444"/>
                  </a:cubicBezTo>
                  <a:cubicBezTo>
                    <a:pt x="157163" y="127397"/>
                    <a:pt x="155079" y="132457"/>
                    <a:pt x="150912" y="136625"/>
                  </a:cubicBezTo>
                  <a:cubicBezTo>
                    <a:pt x="146745" y="140792"/>
                    <a:pt x="141685" y="142875"/>
                    <a:pt x="135732" y="142875"/>
                  </a:cubicBezTo>
                  <a:cubicBezTo>
                    <a:pt x="129779" y="142875"/>
                    <a:pt x="124718" y="140792"/>
                    <a:pt x="120551" y="136625"/>
                  </a:cubicBezTo>
                  <a:cubicBezTo>
                    <a:pt x="116384" y="132457"/>
                    <a:pt x="114300" y="127397"/>
                    <a:pt x="114300" y="121444"/>
                  </a:cubicBezTo>
                  <a:cubicBezTo>
                    <a:pt x="114300" y="115491"/>
                    <a:pt x="116384" y="110431"/>
                    <a:pt x="120551" y="106264"/>
                  </a:cubicBezTo>
                  <a:cubicBezTo>
                    <a:pt x="124718" y="102096"/>
                    <a:pt x="129779" y="100013"/>
                    <a:pt x="135732" y="100013"/>
                  </a:cubicBezTo>
                  <a:close/>
                  <a:moveTo>
                    <a:pt x="71438" y="100013"/>
                  </a:moveTo>
                  <a:cubicBezTo>
                    <a:pt x="77391" y="100013"/>
                    <a:pt x="82451" y="102096"/>
                    <a:pt x="86618" y="106264"/>
                  </a:cubicBezTo>
                  <a:cubicBezTo>
                    <a:pt x="90786" y="110431"/>
                    <a:pt x="92869" y="115491"/>
                    <a:pt x="92869" y="121444"/>
                  </a:cubicBezTo>
                  <a:cubicBezTo>
                    <a:pt x="92869" y="127397"/>
                    <a:pt x="90786" y="132457"/>
                    <a:pt x="86618" y="136625"/>
                  </a:cubicBezTo>
                  <a:cubicBezTo>
                    <a:pt x="82451" y="140792"/>
                    <a:pt x="77391" y="142875"/>
                    <a:pt x="71438" y="142875"/>
                  </a:cubicBezTo>
                  <a:cubicBezTo>
                    <a:pt x="65485" y="142875"/>
                    <a:pt x="60425" y="140792"/>
                    <a:pt x="56257" y="136625"/>
                  </a:cubicBezTo>
                  <a:cubicBezTo>
                    <a:pt x="52090" y="132457"/>
                    <a:pt x="50007" y="127397"/>
                    <a:pt x="50007" y="121444"/>
                  </a:cubicBezTo>
                  <a:cubicBezTo>
                    <a:pt x="50007" y="115491"/>
                    <a:pt x="52090" y="110431"/>
                    <a:pt x="56257" y="106264"/>
                  </a:cubicBezTo>
                  <a:cubicBezTo>
                    <a:pt x="60425" y="102096"/>
                    <a:pt x="65485" y="100013"/>
                    <a:pt x="71438" y="100013"/>
                  </a:cubicBezTo>
                  <a:close/>
                  <a:moveTo>
                    <a:pt x="92869" y="0"/>
                  </a:moveTo>
                  <a:lnTo>
                    <a:pt x="107157" y="0"/>
                  </a:lnTo>
                  <a:lnTo>
                    <a:pt x="107157" y="35719"/>
                  </a:lnTo>
                  <a:lnTo>
                    <a:pt x="128588" y="35719"/>
                  </a:lnTo>
                  <a:lnTo>
                    <a:pt x="100013" y="64294"/>
                  </a:lnTo>
                  <a:lnTo>
                    <a:pt x="71438" y="35719"/>
                  </a:lnTo>
                  <a:lnTo>
                    <a:pt x="92869" y="35719"/>
                  </a:lnTo>
                  <a:close/>
                  <a:moveTo>
                    <a:pt x="7144" y="0"/>
                  </a:moveTo>
                  <a:lnTo>
                    <a:pt x="23218" y="0"/>
                  </a:lnTo>
                  <a:cubicBezTo>
                    <a:pt x="26492" y="0"/>
                    <a:pt x="29394" y="968"/>
                    <a:pt x="31924" y="2903"/>
                  </a:cubicBezTo>
                  <a:cubicBezTo>
                    <a:pt x="34454" y="4837"/>
                    <a:pt x="36017" y="7442"/>
                    <a:pt x="36612" y="10716"/>
                  </a:cubicBezTo>
                  <a:lnTo>
                    <a:pt x="55364" y="85725"/>
                  </a:lnTo>
                  <a:lnTo>
                    <a:pt x="144661" y="85725"/>
                  </a:lnTo>
                  <a:lnTo>
                    <a:pt x="161628" y="21432"/>
                  </a:lnTo>
                  <a:lnTo>
                    <a:pt x="176808" y="21432"/>
                  </a:lnTo>
                  <a:lnTo>
                    <a:pt x="158056" y="89297"/>
                  </a:lnTo>
                  <a:cubicBezTo>
                    <a:pt x="157461" y="92571"/>
                    <a:pt x="155898" y="95176"/>
                    <a:pt x="153368" y="97111"/>
                  </a:cubicBezTo>
                  <a:cubicBezTo>
                    <a:pt x="150838" y="99045"/>
                    <a:pt x="147936" y="100013"/>
                    <a:pt x="144661" y="100013"/>
                  </a:cubicBezTo>
                  <a:lnTo>
                    <a:pt x="135732" y="100013"/>
                  </a:lnTo>
                  <a:lnTo>
                    <a:pt x="71438" y="100013"/>
                  </a:lnTo>
                  <a:lnTo>
                    <a:pt x="55364" y="100013"/>
                  </a:lnTo>
                  <a:cubicBezTo>
                    <a:pt x="52090" y="100013"/>
                    <a:pt x="49188" y="99045"/>
                    <a:pt x="46658" y="97111"/>
                  </a:cubicBezTo>
                  <a:cubicBezTo>
                    <a:pt x="44128" y="95176"/>
                    <a:pt x="42565" y="92571"/>
                    <a:pt x="41970" y="89297"/>
                  </a:cubicBezTo>
                  <a:lnTo>
                    <a:pt x="23218" y="14288"/>
                  </a:lnTo>
                  <a:lnTo>
                    <a:pt x="7144" y="14288"/>
                  </a:lnTo>
                  <a:cubicBezTo>
                    <a:pt x="5061" y="14288"/>
                    <a:pt x="3349" y="13618"/>
                    <a:pt x="2010" y="12279"/>
                  </a:cubicBezTo>
                  <a:cubicBezTo>
                    <a:pt x="670" y="10939"/>
                    <a:pt x="0" y="9228"/>
                    <a:pt x="0" y="7144"/>
                  </a:cubicBezTo>
                  <a:cubicBezTo>
                    <a:pt x="0" y="5061"/>
                    <a:pt x="670" y="3349"/>
                    <a:pt x="2010" y="2010"/>
                  </a:cubicBezTo>
                  <a:cubicBezTo>
                    <a:pt x="3349" y="670"/>
                    <a:pt x="5061" y="0"/>
                    <a:pt x="71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A2ABB83-B462-346A-5A36-8D38D542A55F}"/>
              </a:ext>
            </a:extLst>
          </p:cNvPr>
          <p:cNvGrpSpPr/>
          <p:nvPr/>
        </p:nvGrpSpPr>
        <p:grpSpPr>
          <a:xfrm>
            <a:off x="6301625" y="1955879"/>
            <a:ext cx="2362552" cy="1007011"/>
            <a:chOff x="6307287" y="1957094"/>
            <a:chExt cx="2362552" cy="1007011"/>
          </a:xfrm>
        </p:grpSpPr>
        <p:sp>
          <p:nvSpPr>
            <p:cNvPr id="70" name="Rounded Rectangle 6"/>
            <p:cNvSpPr/>
            <p:nvPr/>
          </p:nvSpPr>
          <p:spPr>
            <a:xfrm>
              <a:off x="6307287" y="1957094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89694" y="2436527"/>
              <a:ext cx="200643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Margem de contribuição (MC) projetada</a:t>
              </a:r>
            </a:p>
          </p:txBody>
        </p:sp>
        <p:sp>
          <p:nvSpPr>
            <p:cNvPr id="66" name="TextBox 35"/>
            <p:cNvSpPr txBox="1"/>
            <p:nvPr/>
          </p:nvSpPr>
          <p:spPr>
            <a:xfrm>
              <a:off x="6389694" y="2037406"/>
              <a:ext cx="2077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86.90% </a:t>
              </a:r>
              <a:r>
                <a:rPr lang="pt-BR" sz="16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(R$ 1.178.599)</a:t>
              </a:r>
              <a:endParaRPr lang="pt-BR" sz="2400" noProof="0" dirty="0">
                <a:solidFill>
                  <a:schemeClr val="bg1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endParaRPr>
            </a:p>
          </p:txBody>
        </p:sp>
        <p:sp>
          <p:nvSpPr>
            <p:cNvPr id="67" name="Freeform 43"/>
            <p:cNvSpPr/>
            <p:nvPr/>
          </p:nvSpPr>
          <p:spPr>
            <a:xfrm>
              <a:off x="8288170" y="2083089"/>
              <a:ext cx="178731" cy="360400"/>
            </a:xfrm>
            <a:custGeom>
              <a:avLst/>
              <a:gdLst/>
              <a:ahLst/>
              <a:cxnLst/>
              <a:rect l="l" t="t" r="r" b="b"/>
              <a:pathLst>
                <a:path w="85725" h="185738">
                  <a:moveTo>
                    <a:pt x="35718" y="0"/>
                  </a:moveTo>
                  <a:lnTo>
                    <a:pt x="50006" y="0"/>
                  </a:lnTo>
                  <a:lnTo>
                    <a:pt x="50006" y="15181"/>
                  </a:lnTo>
                  <a:cubicBezTo>
                    <a:pt x="60126" y="16669"/>
                    <a:pt x="68609" y="21432"/>
                    <a:pt x="75455" y="29468"/>
                  </a:cubicBezTo>
                  <a:cubicBezTo>
                    <a:pt x="82302" y="37505"/>
                    <a:pt x="85725" y="46732"/>
                    <a:pt x="85725" y="57150"/>
                  </a:cubicBezTo>
                  <a:lnTo>
                    <a:pt x="85725" y="64294"/>
                  </a:lnTo>
                  <a:lnTo>
                    <a:pt x="71437" y="64294"/>
                  </a:lnTo>
                  <a:lnTo>
                    <a:pt x="71437" y="57150"/>
                  </a:lnTo>
                  <a:cubicBezTo>
                    <a:pt x="71437" y="49114"/>
                    <a:pt x="68684" y="42342"/>
                    <a:pt x="63177" y="36835"/>
                  </a:cubicBezTo>
                  <a:cubicBezTo>
                    <a:pt x="57670" y="31329"/>
                    <a:pt x="50899" y="28575"/>
                    <a:pt x="42862" y="28575"/>
                  </a:cubicBezTo>
                  <a:cubicBezTo>
                    <a:pt x="34825" y="28575"/>
                    <a:pt x="28054" y="31403"/>
                    <a:pt x="22547" y="37059"/>
                  </a:cubicBezTo>
                  <a:cubicBezTo>
                    <a:pt x="17040" y="42714"/>
                    <a:pt x="14287" y="49411"/>
                    <a:pt x="14287" y="57150"/>
                  </a:cubicBezTo>
                  <a:cubicBezTo>
                    <a:pt x="14287" y="64294"/>
                    <a:pt x="17115" y="70247"/>
                    <a:pt x="22770" y="75010"/>
                  </a:cubicBezTo>
                  <a:cubicBezTo>
                    <a:pt x="26640" y="77986"/>
                    <a:pt x="34230" y="81707"/>
                    <a:pt x="45541" y="86172"/>
                  </a:cubicBezTo>
                  <a:cubicBezTo>
                    <a:pt x="58043" y="91232"/>
                    <a:pt x="66823" y="95846"/>
                    <a:pt x="71884" y="100013"/>
                  </a:cubicBezTo>
                  <a:cubicBezTo>
                    <a:pt x="81111" y="107157"/>
                    <a:pt x="85725" y="116682"/>
                    <a:pt x="85725" y="128588"/>
                  </a:cubicBezTo>
                  <a:cubicBezTo>
                    <a:pt x="85725" y="139006"/>
                    <a:pt x="82302" y="148233"/>
                    <a:pt x="75455" y="156270"/>
                  </a:cubicBezTo>
                  <a:cubicBezTo>
                    <a:pt x="68609" y="164307"/>
                    <a:pt x="60126" y="169069"/>
                    <a:pt x="50006" y="170557"/>
                  </a:cubicBezTo>
                  <a:lnTo>
                    <a:pt x="50006" y="185738"/>
                  </a:lnTo>
                  <a:lnTo>
                    <a:pt x="35718" y="185738"/>
                  </a:lnTo>
                  <a:lnTo>
                    <a:pt x="35718" y="170557"/>
                  </a:lnTo>
                  <a:cubicBezTo>
                    <a:pt x="25598" y="169069"/>
                    <a:pt x="17115" y="164307"/>
                    <a:pt x="10269" y="156270"/>
                  </a:cubicBezTo>
                  <a:cubicBezTo>
                    <a:pt x="3423" y="148233"/>
                    <a:pt x="0" y="139006"/>
                    <a:pt x="0" y="128588"/>
                  </a:cubicBezTo>
                  <a:lnTo>
                    <a:pt x="0" y="121444"/>
                  </a:lnTo>
                  <a:lnTo>
                    <a:pt x="14287" y="121444"/>
                  </a:lnTo>
                  <a:lnTo>
                    <a:pt x="14287" y="128588"/>
                  </a:lnTo>
                  <a:cubicBezTo>
                    <a:pt x="14287" y="136625"/>
                    <a:pt x="17040" y="143396"/>
                    <a:pt x="22547" y="148903"/>
                  </a:cubicBezTo>
                  <a:cubicBezTo>
                    <a:pt x="28054" y="154409"/>
                    <a:pt x="34825" y="157163"/>
                    <a:pt x="42862" y="157163"/>
                  </a:cubicBezTo>
                  <a:cubicBezTo>
                    <a:pt x="50601" y="157163"/>
                    <a:pt x="57298" y="154335"/>
                    <a:pt x="62954" y="148680"/>
                  </a:cubicBezTo>
                  <a:cubicBezTo>
                    <a:pt x="68609" y="143024"/>
                    <a:pt x="71437" y="136327"/>
                    <a:pt x="71437" y="128588"/>
                  </a:cubicBezTo>
                  <a:cubicBezTo>
                    <a:pt x="71437" y="121444"/>
                    <a:pt x="68609" y="115491"/>
                    <a:pt x="62954" y="110728"/>
                  </a:cubicBezTo>
                  <a:cubicBezTo>
                    <a:pt x="58787" y="107454"/>
                    <a:pt x="51196" y="103585"/>
                    <a:pt x="40183" y="99120"/>
                  </a:cubicBezTo>
                  <a:cubicBezTo>
                    <a:pt x="27384" y="94060"/>
                    <a:pt x="18603" y="89595"/>
                    <a:pt x="13841" y="85725"/>
                  </a:cubicBezTo>
                  <a:cubicBezTo>
                    <a:pt x="4613" y="78582"/>
                    <a:pt x="0" y="69057"/>
                    <a:pt x="0" y="57150"/>
                  </a:cubicBezTo>
                  <a:cubicBezTo>
                    <a:pt x="0" y="46732"/>
                    <a:pt x="3423" y="37505"/>
                    <a:pt x="10269" y="29468"/>
                  </a:cubicBezTo>
                  <a:cubicBezTo>
                    <a:pt x="17115" y="21432"/>
                    <a:pt x="25598" y="16669"/>
                    <a:pt x="35718" y="151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9095633" y="1955879"/>
            <a:ext cx="2362552" cy="1007011"/>
            <a:chOff x="6382143" y="1849492"/>
            <a:chExt cx="2362552" cy="1007011"/>
          </a:xfrm>
        </p:grpSpPr>
        <p:sp>
          <p:nvSpPr>
            <p:cNvPr id="73" name="Rounded Rectangle 6"/>
            <p:cNvSpPr/>
            <p:nvPr/>
          </p:nvSpPr>
          <p:spPr>
            <a:xfrm>
              <a:off x="6382143" y="1849492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28048" y="1940351"/>
              <a:ext cx="15550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R$ 1.150.337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65495" y="2346434"/>
              <a:ext cx="21415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Gastos fixos operacionais (GFO) projetados</a:t>
              </a:r>
            </a:p>
          </p:txBody>
        </p:sp>
        <p:sp>
          <p:nvSpPr>
            <p:cNvPr id="71" name="Freeform 44"/>
            <p:cNvSpPr/>
            <p:nvPr/>
          </p:nvSpPr>
          <p:spPr>
            <a:xfrm>
              <a:off x="8184232" y="194745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6538B04-8FA4-D596-CF40-88D0C48BEC6D}"/>
              </a:ext>
            </a:extLst>
          </p:cNvPr>
          <p:cNvGrpSpPr/>
          <p:nvPr/>
        </p:nvGrpSpPr>
        <p:grpSpPr>
          <a:xfrm>
            <a:off x="3468480" y="3284984"/>
            <a:ext cx="2362552" cy="1007011"/>
            <a:chOff x="3468480" y="3078432"/>
            <a:chExt cx="2362552" cy="1007011"/>
          </a:xfrm>
        </p:grpSpPr>
        <p:sp>
          <p:nvSpPr>
            <p:cNvPr id="62" name="Rounded Rectangle 38"/>
            <p:cNvSpPr/>
            <p:nvPr/>
          </p:nvSpPr>
          <p:spPr>
            <a:xfrm>
              <a:off x="3468480" y="3078432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592658" y="3165308"/>
              <a:ext cx="1657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R$ 28.222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81646" y="3571391"/>
              <a:ext cx="21117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Resultado financeiro operacional (RO) estimado</a:t>
              </a:r>
            </a:p>
          </p:txBody>
        </p:sp>
        <p:sp>
          <p:nvSpPr>
            <p:cNvPr id="72" name="Freeform 66"/>
            <p:cNvSpPr/>
            <p:nvPr/>
          </p:nvSpPr>
          <p:spPr>
            <a:xfrm>
              <a:off x="5250170" y="3180814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6318557" y="3299832"/>
            <a:ext cx="2362552" cy="1007011"/>
            <a:chOff x="6411463" y="3280628"/>
            <a:chExt cx="2362552" cy="1007011"/>
          </a:xfrm>
        </p:grpSpPr>
        <p:sp>
          <p:nvSpPr>
            <p:cNvPr id="75" name="Rounded Rectangle 6"/>
            <p:cNvSpPr/>
            <p:nvPr/>
          </p:nvSpPr>
          <p:spPr>
            <a:xfrm>
              <a:off x="6411463" y="3280628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635000" dist="304800" dir="2700000" algn="tl" rotWithShape="0">
                <a:schemeClr val="tx1">
                  <a:alpha val="2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/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0" name="TextBox 19"/>
            <p:cNvSpPr txBox="1"/>
            <p:nvPr/>
          </p:nvSpPr>
          <p:spPr>
            <a:xfrm>
              <a:off x="6528048" y="3355485"/>
              <a:ext cx="20790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R$ 184.770</a:t>
              </a:r>
            </a:p>
            <a:p>
              <a:pPr defTabSz="914080">
                <a:defRPr/>
              </a:pPr>
              <a:endParaRPr lang="pt-BR" sz="2400" noProof="0" dirty="0">
                <a:solidFill>
                  <a:srgbClr val="C00000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Bebas Neue" panose="020B0606020202050201" pitchFamily="34" charset="0"/>
              </a:endParaRPr>
            </a:p>
          </p:txBody>
        </p:sp>
        <p:sp>
          <p:nvSpPr>
            <p:cNvPr id="51" name="TextBox 20"/>
            <p:cNvSpPr txBox="1"/>
            <p:nvPr/>
          </p:nvSpPr>
          <p:spPr>
            <a:xfrm>
              <a:off x="6528048" y="3761568"/>
              <a:ext cx="22250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Investimentos (INV) e Financiamentos (FIN)</a:t>
              </a:r>
            </a:p>
          </p:txBody>
        </p:sp>
        <p:sp>
          <p:nvSpPr>
            <p:cNvPr id="76" name="Freeform 44"/>
            <p:cNvSpPr/>
            <p:nvPr/>
          </p:nvSpPr>
          <p:spPr>
            <a:xfrm>
              <a:off x="8211228" y="3366321"/>
              <a:ext cx="387382" cy="387382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85725" y="42863"/>
                  </a:moveTo>
                  <a:lnTo>
                    <a:pt x="100013" y="42863"/>
                  </a:lnTo>
                  <a:lnTo>
                    <a:pt x="100013" y="116086"/>
                  </a:lnTo>
                  <a:lnTo>
                    <a:pt x="128588" y="87511"/>
                  </a:lnTo>
                  <a:lnTo>
                    <a:pt x="138410" y="98227"/>
                  </a:lnTo>
                  <a:lnTo>
                    <a:pt x="98227" y="138411"/>
                  </a:lnTo>
                  <a:lnTo>
                    <a:pt x="92869" y="143768"/>
                  </a:lnTo>
                  <a:lnTo>
                    <a:pt x="87511" y="138411"/>
                  </a:lnTo>
                  <a:lnTo>
                    <a:pt x="47328" y="98227"/>
                  </a:lnTo>
                  <a:lnTo>
                    <a:pt x="57150" y="87511"/>
                  </a:lnTo>
                  <a:lnTo>
                    <a:pt x="85725" y="116086"/>
                  </a:lnTo>
                  <a:close/>
                  <a:moveTo>
                    <a:pt x="92869" y="14288"/>
                  </a:move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2" y="52611"/>
                    <a:pt x="14288" y="71140"/>
                    <a:pt x="14288" y="92869"/>
                  </a:cubicBezTo>
                  <a:cubicBezTo>
                    <a:pt x="14288" y="114598"/>
                    <a:pt x="21952" y="133127"/>
                    <a:pt x="37282" y="148456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6" y="148456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71140"/>
                    <a:pt x="163786" y="52611"/>
                    <a:pt x="148456" y="37282"/>
                  </a:cubicBezTo>
                  <a:cubicBezTo>
                    <a:pt x="133127" y="21953"/>
                    <a:pt x="114598" y="14288"/>
                    <a:pt x="92869" y="14288"/>
                  </a:cubicBezTo>
                  <a:close/>
                  <a:moveTo>
                    <a:pt x="92869" y="0"/>
                  </a:moveTo>
                  <a:cubicBezTo>
                    <a:pt x="118468" y="0"/>
                    <a:pt x="140345" y="9079"/>
                    <a:pt x="158502" y="27236"/>
                  </a:cubicBezTo>
                  <a:cubicBezTo>
                    <a:pt x="176659" y="45393"/>
                    <a:pt x="185738" y="67271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9106520" y="3309409"/>
            <a:ext cx="2362552" cy="1007011"/>
            <a:chOff x="9134123" y="3291175"/>
            <a:chExt cx="2362552" cy="1007011"/>
          </a:xfrm>
        </p:grpSpPr>
        <p:sp>
          <p:nvSpPr>
            <p:cNvPr id="74" name="Rounded Rectangle 38"/>
            <p:cNvSpPr/>
            <p:nvPr/>
          </p:nvSpPr>
          <p:spPr>
            <a:xfrm>
              <a:off x="9134123" y="3291175"/>
              <a:ext cx="2362552" cy="1007011"/>
            </a:xfrm>
            <a:prstGeom prst="roundRect">
              <a:avLst>
                <a:gd name="adj" fmla="val 6546"/>
              </a:avLst>
            </a:prstGeom>
            <a:gradFill flip="none" rotWithShape="1">
              <a:gsLst>
                <a:gs pos="0">
                  <a:schemeClr val="accent2">
                    <a:lumMod val="75000"/>
                    <a:shade val="30000"/>
                    <a:satMod val="115000"/>
                  </a:schemeClr>
                </a:gs>
                <a:gs pos="50000">
                  <a:schemeClr val="accent2">
                    <a:lumMod val="75000"/>
                    <a:shade val="67500"/>
                    <a:satMod val="115000"/>
                  </a:schemeClr>
                </a:gs>
                <a:gs pos="100000">
                  <a:schemeClr val="accent2">
                    <a:lumMod val="75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495300" dist="114300" dir="2700000" algn="tl" rotWithShape="0">
                <a:srgbClr val="2E517F">
                  <a:alpha val="8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080">
                <a:defRPr/>
              </a:pPr>
              <a:endParaRPr lang="pt-BR" sz="36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56" name="TextBox 43"/>
            <p:cNvSpPr txBox="1"/>
            <p:nvPr/>
          </p:nvSpPr>
          <p:spPr>
            <a:xfrm>
              <a:off x="9258301" y="3360009"/>
              <a:ext cx="20942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-156.547</a:t>
              </a:r>
            </a:p>
          </p:txBody>
        </p:sp>
        <p:sp>
          <p:nvSpPr>
            <p:cNvPr id="57" name="TextBox 44"/>
            <p:cNvSpPr txBox="1"/>
            <p:nvPr/>
          </p:nvSpPr>
          <p:spPr>
            <a:xfrm>
              <a:off x="9247289" y="3766092"/>
              <a:ext cx="21052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1100" noProof="0" dirty="0">
                  <a:solidFill>
                    <a:schemeClr val="bg1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Resultado financeiro estimado após INV e FIN</a:t>
              </a:r>
            </a:p>
          </p:txBody>
        </p:sp>
        <p:sp>
          <p:nvSpPr>
            <p:cNvPr id="77" name="Freeform 66"/>
            <p:cNvSpPr/>
            <p:nvPr/>
          </p:nvSpPr>
          <p:spPr>
            <a:xfrm>
              <a:off x="10942809" y="3381291"/>
              <a:ext cx="375071" cy="375071"/>
            </a:xfrm>
            <a:custGeom>
              <a:avLst/>
              <a:gdLst/>
              <a:ahLst/>
              <a:cxnLst/>
              <a:rect l="l" t="t" r="r" b="b"/>
              <a:pathLst>
                <a:path w="185738" h="185738">
                  <a:moveTo>
                    <a:pt x="173236" y="30361"/>
                  </a:moveTo>
                  <a:lnTo>
                    <a:pt x="183952" y="41077"/>
                  </a:lnTo>
                  <a:lnTo>
                    <a:pt x="98227" y="126802"/>
                  </a:lnTo>
                  <a:lnTo>
                    <a:pt x="92869" y="131267"/>
                  </a:lnTo>
                  <a:lnTo>
                    <a:pt x="87511" y="126802"/>
                  </a:lnTo>
                  <a:lnTo>
                    <a:pt x="51793" y="91083"/>
                  </a:lnTo>
                  <a:lnTo>
                    <a:pt x="62508" y="80368"/>
                  </a:lnTo>
                  <a:lnTo>
                    <a:pt x="92869" y="111175"/>
                  </a:lnTo>
                  <a:close/>
                  <a:moveTo>
                    <a:pt x="92869" y="0"/>
                  </a:moveTo>
                  <a:cubicBezTo>
                    <a:pt x="118170" y="0"/>
                    <a:pt x="139601" y="8781"/>
                    <a:pt x="157163" y="26343"/>
                  </a:cubicBezTo>
                  <a:lnTo>
                    <a:pt x="147340" y="36612"/>
                  </a:lnTo>
                  <a:cubicBezTo>
                    <a:pt x="132458" y="21729"/>
                    <a:pt x="114300" y="14288"/>
                    <a:pt x="92869" y="14288"/>
                  </a:cubicBezTo>
                  <a:cubicBezTo>
                    <a:pt x="71140" y="14288"/>
                    <a:pt x="52611" y="21953"/>
                    <a:pt x="37282" y="37282"/>
                  </a:cubicBezTo>
                  <a:cubicBezTo>
                    <a:pt x="21953" y="52611"/>
                    <a:pt x="14288" y="71140"/>
                    <a:pt x="14288" y="92869"/>
                  </a:cubicBezTo>
                  <a:cubicBezTo>
                    <a:pt x="14288" y="114598"/>
                    <a:pt x="21953" y="133127"/>
                    <a:pt x="37282" y="148457"/>
                  </a:cubicBezTo>
                  <a:cubicBezTo>
                    <a:pt x="52611" y="163786"/>
                    <a:pt x="71140" y="171450"/>
                    <a:pt x="92869" y="171450"/>
                  </a:cubicBezTo>
                  <a:cubicBezTo>
                    <a:pt x="114598" y="171450"/>
                    <a:pt x="133127" y="163786"/>
                    <a:pt x="148457" y="148457"/>
                  </a:cubicBezTo>
                  <a:cubicBezTo>
                    <a:pt x="163786" y="133127"/>
                    <a:pt x="171450" y="114598"/>
                    <a:pt x="171450" y="92869"/>
                  </a:cubicBezTo>
                  <a:cubicBezTo>
                    <a:pt x="171450" y="86916"/>
                    <a:pt x="170706" y="80963"/>
                    <a:pt x="169218" y="75010"/>
                  </a:cubicBezTo>
                  <a:lnTo>
                    <a:pt x="180827" y="63401"/>
                  </a:lnTo>
                  <a:cubicBezTo>
                    <a:pt x="184101" y="72033"/>
                    <a:pt x="185738" y="81856"/>
                    <a:pt x="185738" y="92869"/>
                  </a:cubicBezTo>
                  <a:cubicBezTo>
                    <a:pt x="185738" y="118468"/>
                    <a:pt x="176659" y="140345"/>
                    <a:pt x="158502" y="158502"/>
                  </a:cubicBezTo>
                  <a:cubicBezTo>
                    <a:pt x="140345" y="176659"/>
                    <a:pt x="118468" y="185738"/>
                    <a:pt x="92869" y="185738"/>
                  </a:cubicBezTo>
                  <a:cubicBezTo>
                    <a:pt x="67271" y="185738"/>
                    <a:pt x="45393" y="176659"/>
                    <a:pt x="27236" y="158502"/>
                  </a:cubicBezTo>
                  <a:cubicBezTo>
                    <a:pt x="9079" y="140345"/>
                    <a:pt x="0" y="118468"/>
                    <a:pt x="0" y="92869"/>
                  </a:cubicBezTo>
                  <a:cubicBezTo>
                    <a:pt x="0" y="67271"/>
                    <a:pt x="9079" y="45393"/>
                    <a:pt x="27236" y="27236"/>
                  </a:cubicBezTo>
                  <a:cubicBezTo>
                    <a:pt x="45393" y="9079"/>
                    <a:pt x="67271" y="0"/>
                    <a:pt x="928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28" tIns="45714" rIns="91428" bIns="4571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828526">
                <a:defRPr/>
              </a:pPr>
              <a:endParaRPr lang="pt-BR" sz="7200" noProof="0" dirty="0">
                <a:solidFill>
                  <a:prstClr val="black"/>
                </a:solidFill>
                <a:latin typeface="Montserrat Medium" panose="00000600000000000000" pitchFamily="2" charset="0"/>
              </a:endParaRPr>
            </a:p>
          </p:txBody>
        </p:sp>
      </p:grpSp>
      <p:grpSp>
        <p:nvGrpSpPr>
          <p:cNvPr id="49" name="Group 2"/>
          <p:cNvGrpSpPr/>
          <p:nvPr/>
        </p:nvGrpSpPr>
        <p:grpSpPr>
          <a:xfrm>
            <a:off x="752098" y="1938867"/>
            <a:ext cx="2374862" cy="3794375"/>
            <a:chOff x="15914251" y="4562957"/>
            <a:chExt cx="7791282" cy="8275719"/>
          </a:xfrm>
        </p:grpSpPr>
        <p:sp>
          <p:nvSpPr>
            <p:cNvPr id="53" name="Rounded Rectangle 261"/>
            <p:cNvSpPr/>
            <p:nvPr/>
          </p:nvSpPr>
          <p:spPr>
            <a:xfrm>
              <a:off x="15914251" y="4562957"/>
              <a:ext cx="7791282" cy="8275719"/>
            </a:xfrm>
            <a:prstGeom prst="roundRect">
              <a:avLst>
                <a:gd name="adj" fmla="val 397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723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>
                <a:defRPr/>
              </a:pPr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grpSp>
          <p:nvGrpSpPr>
            <p:cNvPr id="55" name="Group 6"/>
            <p:cNvGrpSpPr/>
            <p:nvPr/>
          </p:nvGrpSpPr>
          <p:grpSpPr>
            <a:xfrm>
              <a:off x="16730888" y="5328136"/>
              <a:ext cx="6117367" cy="6043738"/>
              <a:chOff x="13328202" y="3933060"/>
              <a:chExt cx="8820150" cy="8713986"/>
            </a:xfrm>
          </p:grpSpPr>
          <p:grpSp>
            <p:nvGrpSpPr>
              <p:cNvPr id="69" name="Group 264"/>
              <p:cNvGrpSpPr/>
              <p:nvPr/>
            </p:nvGrpSpPr>
            <p:grpSpPr>
              <a:xfrm>
                <a:off x="15288707" y="10360645"/>
                <a:ext cx="4849607" cy="2286401"/>
                <a:chOff x="4568125" y="1485900"/>
                <a:chExt cx="9035204" cy="4259751"/>
              </a:xfrm>
              <a:effectLst>
                <a:outerShdw blurRad="508000" dist="152400" dir="5400000" algn="t" rotWithShape="0">
                  <a:prstClr val="black">
                    <a:alpha val="31000"/>
                  </a:prstClr>
                </a:outerShdw>
              </a:effectLst>
            </p:grpSpPr>
            <p:sp>
              <p:nvSpPr>
                <p:cNvPr id="90" name="Freeform 335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91" name="Freeform 336"/>
                <p:cNvSpPr/>
                <p:nvPr/>
              </p:nvSpPr>
              <p:spPr>
                <a:xfrm>
                  <a:off x="4568125" y="2973871"/>
                  <a:ext cx="9035204" cy="2771780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rgbClr val="7F9DD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92" name="Donut 337"/>
                <p:cNvSpPr/>
                <p:nvPr/>
              </p:nvSpPr>
              <p:spPr>
                <a:xfrm>
                  <a:off x="4568125" y="1485900"/>
                  <a:ext cx="9035204" cy="3105152"/>
                </a:xfrm>
                <a:prstGeom prst="donut">
                  <a:avLst>
                    <a:gd name="adj" fmla="val 18071"/>
                  </a:avLst>
                </a:prstGeom>
                <a:solidFill>
                  <a:srgbClr val="95A8C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78" name="Group 339"/>
              <p:cNvGrpSpPr/>
              <p:nvPr/>
            </p:nvGrpSpPr>
            <p:grpSpPr>
              <a:xfrm>
                <a:off x="14552361" y="8427751"/>
                <a:ext cx="6379119" cy="3050224"/>
                <a:chOff x="4599551" y="1485900"/>
                <a:chExt cx="9003943" cy="4305300"/>
              </a:xfrm>
              <a:effectLst>
                <a:outerShdw blurRad="431800" dist="76200" dir="5400000" algn="t" rotWithShape="0">
                  <a:prstClr val="black">
                    <a:alpha val="25000"/>
                  </a:prstClr>
                </a:outerShdw>
              </a:effectLst>
            </p:grpSpPr>
            <p:sp>
              <p:nvSpPr>
                <p:cNvPr id="87" name="Freeform 352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8" name="Freeform 353"/>
                <p:cNvSpPr/>
                <p:nvPr/>
              </p:nvSpPr>
              <p:spPr>
                <a:xfrm>
                  <a:off x="4599551" y="3019422"/>
                  <a:ext cx="9003943" cy="2771778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9" name="Donut 354"/>
                <p:cNvSpPr/>
                <p:nvPr/>
              </p:nvSpPr>
              <p:spPr>
                <a:xfrm>
                  <a:off x="4599551" y="1485900"/>
                  <a:ext cx="9003943" cy="3105150"/>
                </a:xfrm>
                <a:prstGeom prst="donut">
                  <a:avLst>
                    <a:gd name="adj" fmla="val 17273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79" name="Group 356"/>
              <p:cNvGrpSpPr/>
              <p:nvPr/>
            </p:nvGrpSpPr>
            <p:grpSpPr>
              <a:xfrm>
                <a:off x="14109252" y="6409560"/>
                <a:ext cx="7259061" cy="3543300"/>
                <a:chOff x="4686300" y="1485900"/>
                <a:chExt cx="8820150" cy="4305300"/>
              </a:xfrm>
              <a:effectLst>
                <a:outerShdw blurRad="444500" dist="114300" dir="5400000" algn="t" rotWithShape="0">
                  <a:prstClr val="black">
                    <a:alpha val="31000"/>
                  </a:prstClr>
                </a:outerShdw>
              </a:effectLst>
            </p:grpSpPr>
            <p:sp>
              <p:nvSpPr>
                <p:cNvPr id="84" name="Freeform 369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5" name="Freeform 370"/>
                <p:cNvSpPr/>
                <p:nvPr/>
              </p:nvSpPr>
              <p:spPr>
                <a:xfrm>
                  <a:off x="4686300" y="3019428"/>
                  <a:ext cx="8820144" cy="2771772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6" name="Donut 371"/>
                <p:cNvSpPr/>
                <p:nvPr/>
              </p:nvSpPr>
              <p:spPr>
                <a:xfrm>
                  <a:off x="4686300" y="1485900"/>
                  <a:ext cx="8820150" cy="3105150"/>
                </a:xfrm>
                <a:prstGeom prst="donut">
                  <a:avLst>
                    <a:gd name="adj" fmla="val 16469"/>
                  </a:avLst>
                </a:prstGeom>
                <a:solidFill>
                  <a:srgbClr val="4371C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  <p:grpSp>
            <p:nvGrpSpPr>
              <p:cNvPr id="80" name="Group 373"/>
              <p:cNvGrpSpPr/>
              <p:nvPr/>
            </p:nvGrpSpPr>
            <p:grpSpPr>
              <a:xfrm>
                <a:off x="13328202" y="3933060"/>
                <a:ext cx="8820150" cy="4305300"/>
                <a:chOff x="4686300" y="1485900"/>
                <a:chExt cx="8820150" cy="4305300"/>
              </a:xfrm>
              <a:effectLst>
                <a:outerShdw blurRad="330200" dist="114300" dir="5400000" algn="t" rotWithShape="0">
                  <a:prstClr val="black">
                    <a:alpha val="28000"/>
                  </a:prstClr>
                </a:outerShdw>
              </a:effectLst>
            </p:grpSpPr>
            <p:sp>
              <p:nvSpPr>
                <p:cNvPr id="81" name="Freeform 386"/>
                <p:cNvSpPr/>
                <p:nvPr/>
              </p:nvSpPr>
              <p:spPr>
                <a:xfrm flipV="1">
                  <a:off x="4686300" y="1485900"/>
                  <a:ext cx="8820150" cy="2771775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2" name="Freeform 387"/>
                <p:cNvSpPr/>
                <p:nvPr/>
              </p:nvSpPr>
              <p:spPr>
                <a:xfrm>
                  <a:off x="4686300" y="3019423"/>
                  <a:ext cx="8820150" cy="2771777"/>
                </a:xfrm>
                <a:custGeom>
                  <a:avLst/>
                  <a:gdLst>
                    <a:gd name="connsiteX0" fmla="*/ 0 w 8820150"/>
                    <a:gd name="connsiteY0" fmla="*/ 0 h 2771775"/>
                    <a:gd name="connsiteX1" fmla="*/ 4410075 w 8820150"/>
                    <a:gd name="connsiteY1" fmla="*/ 1552575 h 2771775"/>
                    <a:gd name="connsiteX2" fmla="*/ 8820150 w 8820150"/>
                    <a:gd name="connsiteY2" fmla="*/ 0 h 2771775"/>
                    <a:gd name="connsiteX3" fmla="*/ 8820150 w 8820150"/>
                    <a:gd name="connsiteY3" fmla="*/ 1219200 h 2771775"/>
                    <a:gd name="connsiteX4" fmla="*/ 4410075 w 8820150"/>
                    <a:gd name="connsiteY4" fmla="*/ 2771775 h 2771775"/>
                    <a:gd name="connsiteX5" fmla="*/ 0 w 8820150"/>
                    <a:gd name="connsiteY5" fmla="*/ 1219200 h 2771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20150" h="2771775">
                      <a:moveTo>
                        <a:pt x="0" y="0"/>
                      </a:moveTo>
                      <a:cubicBezTo>
                        <a:pt x="0" y="857463"/>
                        <a:pt x="1974458" y="1552575"/>
                        <a:pt x="4410075" y="1552575"/>
                      </a:cubicBezTo>
                      <a:cubicBezTo>
                        <a:pt x="6845692" y="1552575"/>
                        <a:pt x="8820150" y="857463"/>
                        <a:pt x="8820150" y="0"/>
                      </a:cubicBezTo>
                      <a:lnTo>
                        <a:pt x="8820150" y="1219200"/>
                      </a:lnTo>
                      <a:cubicBezTo>
                        <a:pt x="8820150" y="2076663"/>
                        <a:pt x="6845692" y="2771775"/>
                        <a:pt x="4410075" y="2771775"/>
                      </a:cubicBezTo>
                      <a:cubicBezTo>
                        <a:pt x="1974458" y="2771775"/>
                        <a:pt x="0" y="2076663"/>
                        <a:pt x="0" y="1219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white"/>
                    </a:solidFill>
                    <a:latin typeface="Montserrat Medium" panose="00000600000000000000" pitchFamily="2" charset="0"/>
                  </a:endParaRPr>
                </a:p>
              </p:txBody>
            </p:sp>
            <p:sp>
              <p:nvSpPr>
                <p:cNvPr id="83" name="Donut 388"/>
                <p:cNvSpPr/>
                <p:nvPr/>
              </p:nvSpPr>
              <p:spPr>
                <a:xfrm>
                  <a:off x="4686300" y="1485900"/>
                  <a:ext cx="8820150" cy="3105150"/>
                </a:xfrm>
                <a:prstGeom prst="donut">
                  <a:avLst>
                    <a:gd name="adj" fmla="val 11260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828526">
                    <a:defRPr/>
                  </a:pPr>
                  <a:endParaRPr lang="pt-BR" sz="7200" noProof="0" dirty="0">
                    <a:solidFill>
                      <a:prstClr val="black"/>
                    </a:solidFill>
                    <a:latin typeface="Montserrat Medium" panose="00000600000000000000" pitchFamily="2" charset="0"/>
                  </a:endParaRPr>
                </a:p>
              </p:txBody>
            </p:sp>
          </p:grpSp>
        </p:grpSp>
        <p:sp>
          <p:nvSpPr>
            <p:cNvPr id="61" name="TextBox 389"/>
            <p:cNvSpPr txBox="1"/>
            <p:nvPr/>
          </p:nvSpPr>
          <p:spPr>
            <a:xfrm>
              <a:off x="17448672" y="7548380"/>
              <a:ext cx="4681789" cy="553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828526">
                <a:defRPr/>
              </a:pPr>
              <a:r>
                <a:rPr lang="pt-BR" sz="1050" noProof="0" dirty="0">
                  <a:solidFill>
                    <a:prstClr val="white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Montserrat Medium" panose="00000600000000000000" pitchFamily="2" charset="0"/>
                </a:rPr>
                <a:t>RO LTM</a:t>
              </a:r>
            </a:p>
          </p:txBody>
        </p:sp>
      </p:grpSp>
      <p:sp>
        <p:nvSpPr>
          <p:cNvPr id="93" name="TextBox 389"/>
          <p:cNvSpPr txBox="1"/>
          <p:nvPr/>
        </p:nvSpPr>
        <p:spPr>
          <a:xfrm>
            <a:off x="1283798" y="3919600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MC</a:t>
            </a:r>
          </a:p>
        </p:txBody>
      </p:sp>
      <p:sp>
        <p:nvSpPr>
          <p:cNvPr id="94" name="TextBox 389"/>
          <p:cNvSpPr txBox="1"/>
          <p:nvPr/>
        </p:nvSpPr>
        <p:spPr>
          <a:xfrm>
            <a:off x="1283798" y="4394426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GFO</a:t>
            </a:r>
          </a:p>
        </p:txBody>
      </p:sp>
      <p:sp>
        <p:nvSpPr>
          <p:cNvPr id="95" name="TextBox 389"/>
          <p:cNvSpPr txBox="1"/>
          <p:nvPr/>
        </p:nvSpPr>
        <p:spPr>
          <a:xfrm>
            <a:off x="1274347" y="4831268"/>
            <a:ext cx="1334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828526">
              <a:defRPr/>
            </a:pPr>
            <a:r>
              <a:rPr lang="pt-BR" sz="1050" noProof="0" dirty="0">
                <a:solidFill>
                  <a:prstClr val="white"/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latin typeface="Montserrat Medium" panose="00000600000000000000" pitchFamily="2" charset="0"/>
              </a:rPr>
              <a:t>RO</a:t>
            </a:r>
          </a:p>
        </p:txBody>
      </p:sp>
      <p:sp>
        <p:nvSpPr>
          <p:cNvPr id="96" name="Isosceles Triangle 174"/>
          <p:cNvSpPr/>
          <p:nvPr/>
        </p:nvSpPr>
        <p:spPr>
          <a:xfrm rot="5400000">
            <a:off x="6006673" y="237617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7" name="Isosceles Triangle 174"/>
          <p:cNvSpPr/>
          <p:nvPr/>
        </p:nvSpPr>
        <p:spPr>
          <a:xfrm rot="5400000">
            <a:off x="8802158" y="237617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8" name="Isosceles Triangle 174"/>
          <p:cNvSpPr/>
          <p:nvPr/>
        </p:nvSpPr>
        <p:spPr>
          <a:xfrm rot="5400000">
            <a:off x="6016949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99" name="Isosceles Triangle 174"/>
          <p:cNvSpPr/>
          <p:nvPr/>
        </p:nvSpPr>
        <p:spPr>
          <a:xfrm rot="5400000">
            <a:off x="8799630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00" name="Isosceles Triangle 174"/>
          <p:cNvSpPr/>
          <p:nvPr/>
        </p:nvSpPr>
        <p:spPr>
          <a:xfrm rot="5400000">
            <a:off x="3249885" y="3754364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sp>
        <p:nvSpPr>
          <p:cNvPr id="101" name="Isosceles Triangle 174"/>
          <p:cNvSpPr/>
          <p:nvPr/>
        </p:nvSpPr>
        <p:spPr>
          <a:xfrm rot="5400000">
            <a:off x="11580902" y="2363427"/>
            <a:ext cx="170758" cy="166420"/>
          </a:xfrm>
          <a:prstGeom prst="triangle">
            <a:avLst/>
          </a:prstGeom>
          <a:solidFill>
            <a:srgbClr val="2C4D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526">
              <a:defRPr/>
            </a:pPr>
            <a:endParaRPr lang="pt-BR" sz="7200" noProof="0" dirty="0">
              <a:solidFill>
                <a:prstClr val="white"/>
              </a:solidFill>
              <a:latin typeface="Montserrat Medium" panose="00000600000000000000" pitchFamily="2" charset="0"/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3457033" y="4718594"/>
            <a:ext cx="3872316" cy="1007011"/>
            <a:chOff x="787346" y="3309836"/>
            <a:chExt cx="2303409" cy="1007011"/>
          </a:xfrm>
        </p:grpSpPr>
        <p:sp>
          <p:nvSpPr>
            <p:cNvPr id="103" name="Rounded Rectangle 6"/>
            <p:cNvSpPr/>
            <p:nvPr/>
          </p:nvSpPr>
          <p:spPr>
            <a:xfrm>
              <a:off x="787346" y="3309836"/>
              <a:ext cx="2303409" cy="1007011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4" name="TextBox 45"/>
            <p:cNvSpPr txBox="1"/>
            <p:nvPr/>
          </p:nvSpPr>
          <p:spPr>
            <a:xfrm>
              <a:off x="849940" y="3475645"/>
              <a:ext cx="12535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R$ 110.316</a:t>
              </a:r>
            </a:p>
            <a:p>
              <a:pPr defTabSz="914080">
                <a:defRPr/>
              </a:pPr>
              <a:r>
                <a: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por mês</a:t>
              </a:r>
            </a:p>
          </p:txBody>
        </p:sp>
        <p:sp>
          <p:nvSpPr>
            <p:cNvPr id="105" name="Google Shape;111;p14"/>
            <p:cNvSpPr txBox="1"/>
            <p:nvPr/>
          </p:nvSpPr>
          <p:spPr>
            <a:xfrm>
              <a:off x="1561712" y="3330086"/>
              <a:ext cx="1499164" cy="922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Meta de Receitas(A):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Valor médio de receitas mensais para manter a operação 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u="sng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antes do pagamento de INV e FIN</a:t>
              </a:r>
            </a:p>
          </p:txBody>
        </p:sp>
      </p:grpSp>
      <p:grpSp>
        <p:nvGrpSpPr>
          <p:cNvPr id="106" name="Grupo 105"/>
          <p:cNvGrpSpPr/>
          <p:nvPr/>
        </p:nvGrpSpPr>
        <p:grpSpPr>
          <a:xfrm>
            <a:off x="7463685" y="4718594"/>
            <a:ext cx="4005387" cy="1007011"/>
            <a:chOff x="3587682" y="3323046"/>
            <a:chExt cx="2320976" cy="1007011"/>
          </a:xfrm>
        </p:grpSpPr>
        <p:sp>
          <p:nvSpPr>
            <p:cNvPr id="107" name="Rounded Rectangle 6"/>
            <p:cNvSpPr/>
            <p:nvPr/>
          </p:nvSpPr>
          <p:spPr>
            <a:xfrm>
              <a:off x="3587682" y="3323046"/>
              <a:ext cx="2320976" cy="1007011"/>
            </a:xfrm>
            <a:prstGeom prst="roundRect">
              <a:avLst>
                <a:gd name="adj" fmla="val 6546"/>
              </a:avLst>
            </a:prstGeom>
            <a:solidFill>
              <a:schemeClr val="bg1"/>
            </a:solidFill>
            <a:ln w="3175">
              <a:noFill/>
            </a:ln>
            <a:effectLst>
              <a:outerShdw blurRad="571500" dist="419100" dir="2700000" algn="tl" rotWithShape="0">
                <a:schemeClr val="tx1"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28526"/>
              <a:endParaRPr lang="pt-BR" sz="7200" noProof="0" dirty="0">
                <a:solidFill>
                  <a:prstClr val="white"/>
                </a:solidFill>
                <a:latin typeface="Montserrat Medium" panose="00000600000000000000" pitchFamily="2" charset="0"/>
              </a:endParaRPr>
            </a:p>
          </p:txBody>
        </p:sp>
        <p:sp>
          <p:nvSpPr>
            <p:cNvPr id="108" name="TextBox 45"/>
            <p:cNvSpPr txBox="1"/>
            <p:nvPr/>
          </p:nvSpPr>
          <p:spPr>
            <a:xfrm>
              <a:off x="3621942" y="3493807"/>
              <a:ext cx="85050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080">
                <a:defRPr/>
              </a:pPr>
              <a:r>
                <a:rPr lang="pt-BR" sz="2400" noProof="0" dirty="0">
                  <a:solidFill>
                    <a:srgbClr val="404040"/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R$ 128.034</a:t>
              </a:r>
            </a:p>
            <a:p>
              <a:pPr defTabSz="914080">
                <a:defRPr/>
              </a:pPr>
              <a:r>
                <a:rPr lang="pt-BR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latin typeface="Bebas Neue" panose="020B0606020202050201" pitchFamily="34" charset="0"/>
                </a:rPr>
                <a:t>Por mês</a:t>
              </a: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4324602" y="3334665"/>
              <a:ext cx="1583296" cy="995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Meta de Receitas(B):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Valor médio de receitas mensais para não haver geração de caixa negativo </a:t>
              </a:r>
              <a:br>
                <a:rPr lang="pt-BR" sz="1050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</a:br>
              <a:r>
                <a:rPr lang="pt-BR" sz="1050" u="sng" noProof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itchFamily="2" charset="0"/>
                  <a:ea typeface="Calibri"/>
                  <a:cs typeface="Roboto"/>
                  <a:sym typeface="Calibri"/>
                </a:rPr>
                <a:t>após pagamento de INV e FIN</a:t>
              </a:r>
              <a:endParaRPr lang="pt-BR" sz="1000" u="sng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Calibri"/>
                <a:cs typeface="Roboto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8296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8769</TotalTime>
  <Words>1543</Words>
  <Application>Microsoft Office PowerPoint</Application>
  <PresentationFormat>Widescreen</PresentationFormat>
  <Paragraphs>412</Paragraphs>
  <Slides>15</Slides>
  <Notes>9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Montserrat Medium</vt:lpstr>
      <vt:lpstr>Bebas Neue</vt:lpstr>
      <vt:lpstr>Arial</vt:lpstr>
      <vt:lpstr>Calibri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Resumo Executivo</dc:title>
  <dc:creator>Jônatas Bueno</dc:creator>
  <cp:lastModifiedBy>Renato Dias Machado</cp:lastModifiedBy>
  <cp:revision>341</cp:revision>
  <dcterms:modified xsi:type="dcterms:W3CDTF">2026-02-09T17:40:21Z</dcterms:modified>
</cp:coreProperties>
</file>